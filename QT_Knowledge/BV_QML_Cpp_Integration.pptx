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 id="2147483721" r:id="rId2"/>
  </p:sldMasterIdLst>
  <p:notesMasterIdLst>
    <p:notesMasterId r:id="rId24"/>
  </p:notesMasterIdLst>
  <p:sldIdLst>
    <p:sldId id="257" r:id="rId3"/>
    <p:sldId id="258" r:id="rId4"/>
    <p:sldId id="295" r:id="rId5"/>
    <p:sldId id="364" r:id="rId6"/>
    <p:sldId id="365" r:id="rId7"/>
    <p:sldId id="366" r:id="rId8"/>
    <p:sldId id="367" r:id="rId9"/>
    <p:sldId id="368" r:id="rId10"/>
    <p:sldId id="369" r:id="rId11"/>
    <p:sldId id="370" r:id="rId12"/>
    <p:sldId id="371" r:id="rId13"/>
    <p:sldId id="372" r:id="rId14"/>
    <p:sldId id="373" r:id="rId15"/>
    <p:sldId id="374" r:id="rId16"/>
    <p:sldId id="375" r:id="rId17"/>
    <p:sldId id="376" r:id="rId18"/>
    <p:sldId id="377" r:id="rId19"/>
    <p:sldId id="378" r:id="rId20"/>
    <p:sldId id="379" r:id="rId21"/>
    <p:sldId id="290" r:id="rId22"/>
    <p:sldId id="29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566" autoAdjust="0"/>
  </p:normalViewPr>
  <p:slideViewPr>
    <p:cSldViewPr snapToGrid="0">
      <p:cViewPr varScale="1">
        <p:scale>
          <a:sx n="65" d="100"/>
          <a:sy n="65" d="100"/>
        </p:scale>
        <p:origin x="133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DAEC7F-C272-42D8-A261-3DCF875DE68D}" type="datetimeFigureOut">
              <a:rPr lang="en-US" smtClean="0"/>
              <a:t>10/14/2020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B06D3D-660E-4CC6-B139-9A7EE3679EAA}" type="slidenum">
              <a:rPr lang="en-US" smtClean="0"/>
              <a:t>‹#›</a:t>
            </a:fld>
            <a:endParaRPr lang="en-US"/>
          </a:p>
        </p:txBody>
      </p:sp>
    </p:spTree>
    <p:extLst>
      <p:ext uri="{BB962C8B-B14F-4D97-AF65-F5344CB8AC3E}">
        <p14:creationId xmlns:p14="http://schemas.microsoft.com/office/powerpoint/2010/main" val="3249876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 name="Google Shape;6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dirty="0"/>
          </a:p>
        </p:txBody>
      </p:sp>
    </p:spTree>
    <p:extLst>
      <p:ext uri="{BB962C8B-B14F-4D97-AF65-F5344CB8AC3E}">
        <p14:creationId xmlns:p14="http://schemas.microsoft.com/office/powerpoint/2010/main" val="3561743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1358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35104097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582351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262644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2034167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541402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84582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817929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631387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4159821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302915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8012456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878576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529489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41774188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206523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3145181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1358876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359" name="Google Shape;359;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933908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27194300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12"/>
        <p:cNvGrpSpPr/>
        <p:nvPr/>
      </p:nvGrpSpPr>
      <p:grpSpPr>
        <a:xfrm>
          <a:off x="0" y="0"/>
          <a:ext cx="0" cy="0"/>
          <a:chOff x="0" y="0"/>
          <a:chExt cx="0" cy="0"/>
        </a:xfrm>
      </p:grpSpPr>
      <p:pic>
        <p:nvPicPr>
          <p:cNvPr id="13" name="Google Shape;13;p3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 name="Google Shape;14;p38"/>
          <p:cNvSpPr txBox="1">
            <a:spLocks noGrp="1"/>
          </p:cNvSpPr>
          <p:nvPr>
            <p:ph type="ctrTitle"/>
          </p:nvPr>
        </p:nvSpPr>
        <p:spPr>
          <a:xfrm>
            <a:off x="4636643" y="4898876"/>
            <a:ext cx="7162800" cy="7052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3000"/>
              <a:buFont typeface="Roboto Condensed"/>
              <a:buNone/>
              <a:defRPr sz="4000">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38"/>
          <p:cNvSpPr txBox="1">
            <a:spLocks noGrp="1"/>
          </p:cNvSpPr>
          <p:nvPr>
            <p:ph type="subTitle" idx="1"/>
          </p:nvPr>
        </p:nvSpPr>
        <p:spPr>
          <a:xfrm>
            <a:off x="4664268" y="5432447"/>
            <a:ext cx="7125600" cy="4508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1067"/>
              </a:spcBef>
              <a:spcAft>
                <a:spcPts val="0"/>
              </a:spcAft>
              <a:buClr>
                <a:schemeClr val="dk1"/>
              </a:buClr>
              <a:buSzPts val="1700"/>
              <a:buFont typeface="Roboto Condensed"/>
              <a:buNone/>
              <a:defRPr sz="2267">
                <a:latin typeface="Roboto Condensed"/>
                <a:ea typeface="Roboto Condensed"/>
                <a:cs typeface="Roboto Condensed"/>
                <a:sym typeface="Roboto Condensed"/>
              </a:defRPr>
            </a:lvl1pPr>
            <a:lvl2pPr lvl="1" algn="ctr">
              <a:lnSpc>
                <a:spcPct val="90000"/>
              </a:lnSpc>
              <a:spcBef>
                <a:spcPts val="533"/>
              </a:spcBef>
              <a:spcAft>
                <a:spcPts val="0"/>
              </a:spcAft>
              <a:buClr>
                <a:schemeClr val="dk1"/>
              </a:buClr>
              <a:buSzPts val="1500"/>
              <a:buFont typeface="Roboto Condensed"/>
              <a:buNone/>
              <a:defRPr sz="2000">
                <a:latin typeface="Roboto Condensed"/>
                <a:ea typeface="Roboto Condensed"/>
                <a:cs typeface="Roboto Condensed"/>
                <a:sym typeface="Roboto Condensed"/>
              </a:defRPr>
            </a:lvl2pPr>
            <a:lvl3pPr lvl="2" algn="ctr">
              <a:lnSpc>
                <a:spcPct val="90000"/>
              </a:lnSpc>
              <a:spcBef>
                <a:spcPts val="533"/>
              </a:spcBef>
              <a:spcAft>
                <a:spcPts val="0"/>
              </a:spcAft>
              <a:buClr>
                <a:schemeClr val="dk1"/>
              </a:buClr>
              <a:buSzPts val="1400"/>
              <a:buFont typeface="Roboto Condensed"/>
              <a:buNone/>
              <a:defRPr sz="1867">
                <a:latin typeface="Roboto Condensed"/>
                <a:ea typeface="Roboto Condensed"/>
                <a:cs typeface="Roboto Condensed"/>
                <a:sym typeface="Roboto Condensed"/>
              </a:defRPr>
            </a:lvl3pPr>
            <a:lvl4pPr lvl="3"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4pPr>
            <a:lvl5pPr lvl="4"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5pPr>
            <a:lvl6pPr lvl="5"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6pPr>
            <a:lvl7pPr lvl="6"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7pPr>
            <a:lvl8pPr lvl="7"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8pPr>
            <a:lvl9pPr lvl="8"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2483324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BG]" preserve="1">
  <p:cSld name="Title and Body [BG]">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39"/>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4800"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18" name="Google Shape;18;p39"/>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l">
              <a:lnSpc>
                <a:spcPct val="114000"/>
              </a:lnSpc>
              <a:spcBef>
                <a:spcPts val="0"/>
              </a:spcBef>
              <a:spcAft>
                <a:spcPts val="0"/>
              </a:spcAft>
              <a:buClr>
                <a:schemeClr val="dk1"/>
              </a:buClr>
              <a:buSzPts val="1500"/>
              <a:buFont typeface="Roboto Condensed"/>
              <a:buNone/>
              <a:defRPr sz="2000" i="0" u="none" strike="noStrike" cap="none">
                <a:solidFill>
                  <a:schemeClr val="dk1"/>
                </a:solidFill>
              </a:defRPr>
            </a:lvl1pPr>
            <a:lvl2pPr marL="914400" marR="0" lvl="1" indent="-311150" algn="l">
              <a:lnSpc>
                <a:spcPct val="115000"/>
              </a:lnSpc>
              <a:spcBef>
                <a:spcPts val="1333"/>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Char char="•"/>
              <a:defRPr sz="1733" i="0" u="none" strike="noStrike" cap="none">
                <a:solidFill>
                  <a:schemeClr val="dk1"/>
                </a:solidFill>
              </a:defRPr>
            </a:lvl6pPr>
            <a:lvl7pPr marL="3200400" marR="0" lvl="6" indent="-311150" algn="l">
              <a:lnSpc>
                <a:spcPct val="115000"/>
              </a:lnSpc>
              <a:spcBef>
                <a:spcPts val="667"/>
              </a:spcBef>
              <a:spcAft>
                <a:spcPts val="0"/>
              </a:spcAft>
              <a:buClr>
                <a:schemeClr val="dk1"/>
              </a:buClr>
              <a:buSzPts val="1300"/>
              <a:buChar char="•"/>
              <a:defRPr sz="1733" i="0" u="none" strike="noStrike" cap="none">
                <a:solidFill>
                  <a:schemeClr val="dk1"/>
                </a:solidFill>
              </a:defRPr>
            </a:lvl7pPr>
            <a:lvl8pPr marL="3657600" marR="0" lvl="7" indent="-311150" algn="l">
              <a:lnSpc>
                <a:spcPct val="115000"/>
              </a:lnSpc>
              <a:spcBef>
                <a:spcPts val="667"/>
              </a:spcBef>
              <a:spcAft>
                <a:spcPts val="0"/>
              </a:spcAft>
              <a:buClr>
                <a:schemeClr val="dk1"/>
              </a:buClr>
              <a:buSzPts val="1300"/>
              <a:buChar char="•"/>
              <a:defRPr sz="1733" i="0" u="none" strike="noStrike" cap="none">
                <a:solidFill>
                  <a:schemeClr val="dk1"/>
                </a:solidFill>
              </a:defRPr>
            </a:lvl8pPr>
            <a:lvl9pPr marL="4114800" marR="0" lvl="8" indent="-311150" algn="l">
              <a:lnSpc>
                <a:spcPct val="115000"/>
              </a:lnSpc>
              <a:spcBef>
                <a:spcPts val="667"/>
              </a:spcBef>
              <a:spcAft>
                <a:spcPts val="667"/>
              </a:spcAft>
              <a:buClr>
                <a:schemeClr val="dk1"/>
              </a:buClr>
              <a:buSzPts val="1300"/>
              <a:buChar char="•"/>
              <a:defRPr sz="1733" i="0" u="none" strike="noStrike" cap="none">
                <a:solidFill>
                  <a:schemeClr val="dk1"/>
                </a:solidFill>
              </a:defRPr>
            </a:lvl9pPr>
          </a:lstStyle>
          <a:p>
            <a:endParaRPr/>
          </a:p>
        </p:txBody>
      </p:sp>
    </p:spTree>
    <p:extLst>
      <p:ext uri="{BB962C8B-B14F-4D97-AF65-F5344CB8AC3E}">
        <p14:creationId xmlns:p14="http://schemas.microsoft.com/office/powerpoint/2010/main" val="1362047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BG]" preserve="1">
  <p:cSld name="Blank [BG]">
    <p:bg>
      <p:bgPr>
        <a:blipFill>
          <a:blip r:embed="rId2">
            <a:alphaModFix/>
          </a:blip>
          <a:stretch>
            <a:fillRect/>
          </a:stretch>
        </a:blipFill>
        <a:effectLst/>
      </p:bgPr>
    </p:bg>
    <p:spTree>
      <p:nvGrpSpPr>
        <p:cNvPr id="1" name="Shape 19"/>
        <p:cNvGrpSpPr/>
        <p:nvPr/>
      </p:nvGrpSpPr>
      <p:grpSpPr>
        <a:xfrm>
          <a:off x="0" y="0"/>
          <a:ext cx="0" cy="0"/>
          <a:chOff x="0" y="0"/>
          <a:chExt cx="0" cy="0"/>
        </a:xfrm>
      </p:grpSpPr>
    </p:spTree>
    <p:extLst>
      <p:ext uri="{BB962C8B-B14F-4D97-AF65-F5344CB8AC3E}">
        <p14:creationId xmlns:p14="http://schemas.microsoft.com/office/powerpoint/2010/main" val="467894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4" preserve="1">
  <p:cSld name="Section header 4">
    <p:bg>
      <p:bgPr>
        <a:blipFill>
          <a:blip r:embed="rId2">
            <a:alphaModFix/>
          </a:blip>
          <a:stretch>
            <a:fillRect/>
          </a:stretch>
        </a:blipFill>
        <a:effectLst/>
      </p:bgPr>
    </p:bg>
    <p:spTree>
      <p:nvGrpSpPr>
        <p:cNvPr id="1" name="Shape 20"/>
        <p:cNvGrpSpPr/>
        <p:nvPr/>
      </p:nvGrpSpPr>
      <p:grpSpPr>
        <a:xfrm>
          <a:off x="0" y="0"/>
          <a:ext cx="0" cy="0"/>
          <a:chOff x="0" y="0"/>
          <a:chExt cx="0" cy="0"/>
        </a:xfrm>
      </p:grpSpPr>
      <p:sp>
        <p:nvSpPr>
          <p:cNvPr id="21" name="Google Shape;21;p43"/>
          <p:cNvSpPr txBox="1">
            <a:spLocks noGrp="1"/>
          </p:cNvSpPr>
          <p:nvPr>
            <p:ph type="ctrTitle"/>
          </p:nvPr>
        </p:nvSpPr>
        <p:spPr>
          <a:xfrm>
            <a:off x="1685100" y="1745933"/>
            <a:ext cx="8876400" cy="20184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rgbClr val="FFFFFF"/>
              </a:buClr>
              <a:buSzPts val="3800"/>
              <a:buFont typeface="Roboto Condensed"/>
              <a:buNone/>
              <a:defRPr>
                <a:solidFill>
                  <a:srgbClr val="FFFFFF"/>
                </a:solidFill>
                <a:latin typeface="Roboto Condensed"/>
                <a:ea typeface="Roboto Condensed"/>
                <a:cs typeface="Roboto Condensed"/>
                <a:sym typeface="Roboto Condensed"/>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957237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 Highlight 2" preserve="1">
  <p:cSld name="Title and Body - Highlight 2">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4"/>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4800"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24" name="Google Shape;24;p44"/>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l">
              <a:lnSpc>
                <a:spcPct val="114000"/>
              </a:lnSpc>
              <a:spcBef>
                <a:spcPts val="0"/>
              </a:spcBef>
              <a:spcAft>
                <a:spcPts val="0"/>
              </a:spcAft>
              <a:buClr>
                <a:schemeClr val="dk1"/>
              </a:buClr>
              <a:buSzPts val="1500"/>
              <a:buFont typeface="Roboto Condensed"/>
              <a:buNone/>
              <a:defRPr sz="2000" i="0" u="none" strike="noStrike" cap="none">
                <a:solidFill>
                  <a:schemeClr val="dk1"/>
                </a:solidFill>
              </a:defRPr>
            </a:lvl1pPr>
            <a:lvl2pPr marL="914400" marR="0" lvl="1" indent="-311150" algn="l">
              <a:lnSpc>
                <a:spcPct val="115000"/>
              </a:lnSpc>
              <a:spcBef>
                <a:spcPts val="1333"/>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Char char="•"/>
              <a:defRPr sz="1733" i="0" u="none" strike="noStrike" cap="none">
                <a:solidFill>
                  <a:schemeClr val="dk1"/>
                </a:solidFill>
              </a:defRPr>
            </a:lvl6pPr>
            <a:lvl7pPr marL="3200400" marR="0" lvl="6" indent="-311150" algn="l">
              <a:lnSpc>
                <a:spcPct val="115000"/>
              </a:lnSpc>
              <a:spcBef>
                <a:spcPts val="667"/>
              </a:spcBef>
              <a:spcAft>
                <a:spcPts val="0"/>
              </a:spcAft>
              <a:buClr>
                <a:schemeClr val="dk1"/>
              </a:buClr>
              <a:buSzPts val="1300"/>
              <a:buChar char="•"/>
              <a:defRPr sz="1733" i="0" u="none" strike="noStrike" cap="none">
                <a:solidFill>
                  <a:schemeClr val="dk1"/>
                </a:solidFill>
              </a:defRPr>
            </a:lvl7pPr>
            <a:lvl8pPr marL="3657600" marR="0" lvl="7" indent="-311150" algn="l">
              <a:lnSpc>
                <a:spcPct val="115000"/>
              </a:lnSpc>
              <a:spcBef>
                <a:spcPts val="667"/>
              </a:spcBef>
              <a:spcAft>
                <a:spcPts val="0"/>
              </a:spcAft>
              <a:buClr>
                <a:schemeClr val="dk1"/>
              </a:buClr>
              <a:buSzPts val="1300"/>
              <a:buChar char="•"/>
              <a:defRPr sz="1733" i="0" u="none" strike="noStrike" cap="none">
                <a:solidFill>
                  <a:schemeClr val="dk1"/>
                </a:solidFill>
              </a:defRPr>
            </a:lvl8pPr>
            <a:lvl9pPr marL="4114800" marR="0" lvl="8" indent="-311150" algn="l">
              <a:lnSpc>
                <a:spcPct val="115000"/>
              </a:lnSpc>
              <a:spcBef>
                <a:spcPts val="667"/>
              </a:spcBef>
              <a:spcAft>
                <a:spcPts val="667"/>
              </a:spcAft>
              <a:buClr>
                <a:schemeClr val="dk1"/>
              </a:buClr>
              <a:buSzPts val="1300"/>
              <a:buChar char="•"/>
              <a:defRPr sz="1733" i="0" u="none" strike="noStrike" cap="none">
                <a:solidFill>
                  <a:schemeClr val="dk1"/>
                </a:solidFill>
              </a:defRPr>
            </a:lvl9pPr>
          </a:lstStyle>
          <a:p>
            <a:endParaRPr/>
          </a:p>
        </p:txBody>
      </p:sp>
      <p:sp>
        <p:nvSpPr>
          <p:cNvPr id="25" name="Google Shape;25;p44"/>
          <p:cNvSpPr/>
          <p:nvPr/>
        </p:nvSpPr>
        <p:spPr>
          <a:xfrm rot="5400000">
            <a:off x="-293000" y="650100"/>
            <a:ext cx="686800" cy="100800"/>
          </a:xfrm>
          <a:prstGeom prst="rect">
            <a:avLst/>
          </a:prstGeom>
          <a:solidFill>
            <a:srgbClr val="EFC41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71939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 Right" preserve="1">
  <p:cSld name="One Column - Right">
    <p:spTree>
      <p:nvGrpSpPr>
        <p:cNvPr id="1" name="Shape 26"/>
        <p:cNvGrpSpPr/>
        <p:nvPr/>
      </p:nvGrpSpPr>
      <p:grpSpPr>
        <a:xfrm>
          <a:off x="0" y="0"/>
          <a:ext cx="0" cy="0"/>
          <a:chOff x="0" y="0"/>
          <a:chExt cx="0" cy="0"/>
        </a:xfrm>
      </p:grpSpPr>
      <p:sp>
        <p:nvSpPr>
          <p:cNvPr id="27" name="Google Shape;27;p45"/>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28" name="Google Shape;28;p45"/>
          <p:cNvSpPr txBox="1">
            <a:spLocks noGrp="1"/>
          </p:cNvSpPr>
          <p:nvPr>
            <p:ph type="body" idx="1"/>
          </p:nvPr>
        </p:nvSpPr>
        <p:spPr>
          <a:xfrm>
            <a:off x="6306533" y="1297100"/>
            <a:ext cx="5531600" cy="5246000"/>
          </a:xfrm>
          <a:prstGeom prst="rect">
            <a:avLst/>
          </a:prstGeom>
          <a:noFill/>
          <a:ln>
            <a:noFill/>
          </a:ln>
        </p:spPr>
        <p:txBody>
          <a:bodyPr spcFirstLastPara="1" wrap="square" lIns="68575" tIns="34275" rIns="68575" bIns="34275" anchor="t" anchorCtr="0">
            <a:noAutofit/>
          </a:bodyPr>
          <a:lstStyle>
            <a:lvl1pPr marL="457200" marR="0" lvl="0" indent="-228600" algn="l">
              <a:lnSpc>
                <a:spcPct val="115000"/>
              </a:lnSpc>
              <a:spcBef>
                <a:spcPts val="0"/>
              </a:spcBef>
              <a:spcAft>
                <a:spcPts val="0"/>
              </a:spcAft>
              <a:buClr>
                <a:schemeClr val="dk1"/>
              </a:buClr>
              <a:buSzPts val="1500"/>
              <a:buFont typeface="Roboto Condensed"/>
              <a:buNone/>
              <a:defRPr sz="2000" i="0" u="none" strike="noStrike" cap="none">
                <a:solidFill>
                  <a:schemeClr val="dk1"/>
                </a:solidFill>
                <a:latin typeface="Roboto Condensed"/>
                <a:ea typeface="Roboto Condensed"/>
                <a:cs typeface="Roboto Condensed"/>
                <a:sym typeface="Roboto Condensed"/>
              </a:defRPr>
            </a:lvl1pPr>
            <a:lvl2pPr marL="914400" marR="0" lvl="1" indent="-311150" algn="l">
              <a:lnSpc>
                <a:spcPct val="115000"/>
              </a:lnSpc>
              <a:spcBef>
                <a:spcPts val="1333"/>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6pPr>
            <a:lvl7pPr marL="3200400" marR="0" lvl="6"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7pPr>
            <a:lvl8pPr marL="3657600" marR="0" lvl="7"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8pPr>
            <a:lvl9pPr marL="4114800" marR="0" lvl="8" indent="-311150" algn="l">
              <a:lnSpc>
                <a:spcPct val="115000"/>
              </a:lnSpc>
              <a:spcBef>
                <a:spcPts val="667"/>
              </a:spcBef>
              <a:spcAft>
                <a:spcPts val="667"/>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16737425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 Left" preserve="1">
  <p:cSld name="One column - Left">
    <p:spTree>
      <p:nvGrpSpPr>
        <p:cNvPr id="1" name="Shape 29"/>
        <p:cNvGrpSpPr/>
        <p:nvPr/>
      </p:nvGrpSpPr>
      <p:grpSpPr>
        <a:xfrm>
          <a:off x="0" y="0"/>
          <a:ext cx="0" cy="0"/>
          <a:chOff x="0" y="0"/>
          <a:chExt cx="0" cy="0"/>
        </a:xfrm>
      </p:grpSpPr>
      <p:sp>
        <p:nvSpPr>
          <p:cNvPr id="30" name="Google Shape;30;p46"/>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31" name="Google Shape;31;p46"/>
          <p:cNvSpPr txBox="1">
            <a:spLocks noGrp="1"/>
          </p:cNvSpPr>
          <p:nvPr>
            <p:ph type="body" idx="1"/>
          </p:nvPr>
        </p:nvSpPr>
        <p:spPr>
          <a:xfrm>
            <a:off x="436600" y="1297100"/>
            <a:ext cx="5531600" cy="5246000"/>
          </a:xfrm>
          <a:prstGeom prst="rect">
            <a:avLst/>
          </a:prstGeom>
          <a:noFill/>
          <a:ln>
            <a:noFill/>
          </a:ln>
        </p:spPr>
        <p:txBody>
          <a:bodyPr spcFirstLastPara="1" wrap="square" lIns="68575" tIns="34275" rIns="68575" bIns="34275" anchor="t" anchorCtr="0">
            <a:noAutofit/>
          </a:bodyPr>
          <a:lstStyle>
            <a:lvl1pPr marL="457200" marR="0" lvl="0" indent="-228600" algn="l">
              <a:lnSpc>
                <a:spcPct val="115000"/>
              </a:lnSpc>
              <a:spcBef>
                <a:spcPts val="0"/>
              </a:spcBef>
              <a:spcAft>
                <a:spcPts val="0"/>
              </a:spcAft>
              <a:buClr>
                <a:schemeClr val="dk1"/>
              </a:buClr>
              <a:buSzPts val="1500"/>
              <a:buFont typeface="Roboto Condensed"/>
              <a:buNone/>
              <a:defRPr sz="2000" i="0" u="none" strike="noStrike" cap="none">
                <a:solidFill>
                  <a:schemeClr val="dk1"/>
                </a:solidFill>
                <a:latin typeface="Roboto Condensed"/>
                <a:ea typeface="Roboto Condensed"/>
                <a:cs typeface="Roboto Condensed"/>
                <a:sym typeface="Roboto Condensed"/>
              </a:defRPr>
            </a:lvl1pPr>
            <a:lvl2pPr marL="914400" marR="0" lvl="1" indent="-311150" algn="l">
              <a:lnSpc>
                <a:spcPct val="115000"/>
              </a:lnSpc>
              <a:spcBef>
                <a:spcPts val="1333"/>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6pPr>
            <a:lvl7pPr marL="3200400" marR="0" lvl="6"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7pPr>
            <a:lvl8pPr marL="3657600" marR="0" lvl="7"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8pPr>
            <a:lvl9pPr marL="4114800" marR="0" lvl="8" indent="-311150" algn="l">
              <a:lnSpc>
                <a:spcPct val="115000"/>
              </a:lnSpc>
              <a:spcBef>
                <a:spcPts val="667"/>
              </a:spcBef>
              <a:spcAft>
                <a:spcPts val="667"/>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1397332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e end" preserve="1">
  <p:cSld name="The end">
    <p:spTree>
      <p:nvGrpSpPr>
        <p:cNvPr id="1" name="Shape 32"/>
        <p:cNvGrpSpPr/>
        <p:nvPr/>
      </p:nvGrpSpPr>
      <p:grpSpPr>
        <a:xfrm>
          <a:off x="0" y="0"/>
          <a:ext cx="0" cy="0"/>
          <a:chOff x="0" y="0"/>
          <a:chExt cx="0" cy="0"/>
        </a:xfrm>
      </p:grpSpPr>
      <p:pic>
        <p:nvPicPr>
          <p:cNvPr id="33" name="Google Shape;33;p4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4" name="Google Shape;34;p47"/>
          <p:cNvSpPr txBox="1">
            <a:spLocks noGrp="1"/>
          </p:cNvSpPr>
          <p:nvPr>
            <p:ph type="title"/>
          </p:nvPr>
        </p:nvSpPr>
        <p:spPr>
          <a:xfrm>
            <a:off x="372767" y="2838433"/>
            <a:ext cx="11446400" cy="2014400"/>
          </a:xfrm>
          <a:prstGeom prst="rect">
            <a:avLst/>
          </a:prstGeom>
          <a:noFill/>
          <a:ln>
            <a:noFill/>
          </a:ln>
        </p:spPr>
        <p:txBody>
          <a:bodyPr spcFirstLastPara="1" wrap="square" lIns="68575" tIns="34275" rIns="68575" bIns="34275" anchor="ctr" anchorCtr="0">
            <a:noAutofit/>
          </a:bodyPr>
          <a:lstStyle>
            <a:lvl1pPr lvl="0" algn="ctr">
              <a:lnSpc>
                <a:spcPct val="90000"/>
              </a:lnSpc>
              <a:spcBef>
                <a:spcPts val="0"/>
              </a:spcBef>
              <a:spcAft>
                <a:spcPts val="0"/>
              </a:spcAft>
              <a:buClr>
                <a:schemeClr val="lt1"/>
              </a:buClr>
              <a:buSzPts val="6000"/>
              <a:buFont typeface="Roboto Condensed"/>
              <a:buNone/>
              <a:defRPr sz="8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2107702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BG]" preserve="1">
  <p:cSld name="Title Only [BG]">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48"/>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1034513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end" preserve="1">
  <p:cSld name="The end">
    <p:spTree>
      <p:nvGrpSpPr>
        <p:cNvPr id="1" name="Shape 40"/>
        <p:cNvGrpSpPr/>
        <p:nvPr/>
      </p:nvGrpSpPr>
      <p:grpSpPr>
        <a:xfrm>
          <a:off x="0" y="0"/>
          <a:ext cx="0" cy="0"/>
          <a:chOff x="0" y="0"/>
          <a:chExt cx="0" cy="0"/>
        </a:xfrm>
      </p:grpSpPr>
      <p:pic>
        <p:nvPicPr>
          <p:cNvPr id="41" name="Google Shape;41;p4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2" name="Google Shape;42;p41"/>
          <p:cNvSpPr txBox="1">
            <a:spLocks noGrp="1"/>
          </p:cNvSpPr>
          <p:nvPr>
            <p:ph type="title"/>
          </p:nvPr>
        </p:nvSpPr>
        <p:spPr>
          <a:xfrm>
            <a:off x="372767" y="2838433"/>
            <a:ext cx="11446400" cy="2014400"/>
          </a:xfrm>
          <a:prstGeom prst="rect">
            <a:avLst/>
          </a:prstGeom>
          <a:noFill/>
          <a:ln>
            <a:noFill/>
          </a:ln>
        </p:spPr>
        <p:txBody>
          <a:bodyPr spcFirstLastPara="1" wrap="square" lIns="68575" tIns="34275" rIns="68575" bIns="34275" anchor="ctr" anchorCtr="0">
            <a:noAutofit/>
          </a:bodyPr>
          <a:lstStyle>
            <a:lvl1pPr lvl="0" algn="ctr">
              <a:lnSpc>
                <a:spcPct val="90000"/>
              </a:lnSpc>
              <a:spcBef>
                <a:spcPts val="0"/>
              </a:spcBef>
              <a:spcAft>
                <a:spcPts val="0"/>
              </a:spcAft>
              <a:buClr>
                <a:schemeClr val="lt1"/>
              </a:buClr>
              <a:buSzPts val="6000"/>
              <a:buFont typeface="Roboto Condensed"/>
              <a:buNone/>
              <a:defRPr sz="80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3103508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43"/>
        <p:cNvGrpSpPr/>
        <p:nvPr/>
      </p:nvGrpSpPr>
      <p:grpSpPr>
        <a:xfrm>
          <a:off x="0" y="0"/>
          <a:ext cx="0" cy="0"/>
          <a:chOff x="0" y="0"/>
          <a:chExt cx="0" cy="0"/>
        </a:xfrm>
      </p:grpSpPr>
      <p:pic>
        <p:nvPicPr>
          <p:cNvPr id="44" name="Google Shape;44;p49"/>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5" name="Google Shape;45;p49"/>
          <p:cNvSpPr txBox="1">
            <a:spLocks noGrp="1"/>
          </p:cNvSpPr>
          <p:nvPr>
            <p:ph type="ctrTitle"/>
          </p:nvPr>
        </p:nvSpPr>
        <p:spPr>
          <a:xfrm>
            <a:off x="4636643" y="4898876"/>
            <a:ext cx="7162800" cy="7052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3000"/>
              <a:buFont typeface="Roboto Condensed"/>
              <a:buNone/>
              <a:defRPr sz="4000">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6" name="Google Shape;46;p49"/>
          <p:cNvSpPr txBox="1">
            <a:spLocks noGrp="1"/>
          </p:cNvSpPr>
          <p:nvPr>
            <p:ph type="subTitle" idx="1"/>
          </p:nvPr>
        </p:nvSpPr>
        <p:spPr>
          <a:xfrm>
            <a:off x="4664268" y="5432447"/>
            <a:ext cx="7125600" cy="4508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1067"/>
              </a:spcBef>
              <a:spcAft>
                <a:spcPts val="0"/>
              </a:spcAft>
              <a:buClr>
                <a:schemeClr val="dk1"/>
              </a:buClr>
              <a:buSzPts val="1700"/>
              <a:buFont typeface="Roboto Condensed"/>
              <a:buNone/>
              <a:defRPr sz="2267">
                <a:latin typeface="Roboto Condensed"/>
                <a:ea typeface="Roboto Condensed"/>
                <a:cs typeface="Roboto Condensed"/>
                <a:sym typeface="Roboto Condensed"/>
              </a:defRPr>
            </a:lvl1pPr>
            <a:lvl2pPr lvl="1" algn="ctr">
              <a:lnSpc>
                <a:spcPct val="90000"/>
              </a:lnSpc>
              <a:spcBef>
                <a:spcPts val="533"/>
              </a:spcBef>
              <a:spcAft>
                <a:spcPts val="0"/>
              </a:spcAft>
              <a:buClr>
                <a:schemeClr val="dk1"/>
              </a:buClr>
              <a:buSzPts val="1500"/>
              <a:buFont typeface="Roboto Condensed"/>
              <a:buNone/>
              <a:defRPr sz="2000">
                <a:latin typeface="Roboto Condensed"/>
                <a:ea typeface="Roboto Condensed"/>
                <a:cs typeface="Roboto Condensed"/>
                <a:sym typeface="Roboto Condensed"/>
              </a:defRPr>
            </a:lvl2pPr>
            <a:lvl3pPr lvl="2" algn="ctr">
              <a:lnSpc>
                <a:spcPct val="90000"/>
              </a:lnSpc>
              <a:spcBef>
                <a:spcPts val="533"/>
              </a:spcBef>
              <a:spcAft>
                <a:spcPts val="0"/>
              </a:spcAft>
              <a:buClr>
                <a:schemeClr val="dk1"/>
              </a:buClr>
              <a:buSzPts val="1400"/>
              <a:buFont typeface="Roboto Condensed"/>
              <a:buNone/>
              <a:defRPr sz="1867">
                <a:latin typeface="Roboto Condensed"/>
                <a:ea typeface="Roboto Condensed"/>
                <a:cs typeface="Roboto Condensed"/>
                <a:sym typeface="Roboto Condensed"/>
              </a:defRPr>
            </a:lvl3pPr>
            <a:lvl4pPr lvl="3"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4pPr>
            <a:lvl5pPr lvl="4"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5pPr>
            <a:lvl6pPr lvl="5"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6pPr>
            <a:lvl7pPr lvl="6"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7pPr>
            <a:lvl8pPr lvl="7"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8pPr>
            <a:lvl9pPr lvl="8" algn="ctr">
              <a:lnSpc>
                <a:spcPct val="90000"/>
              </a:lnSpc>
              <a:spcBef>
                <a:spcPts val="533"/>
              </a:spcBef>
              <a:spcAft>
                <a:spcPts val="0"/>
              </a:spcAft>
              <a:buClr>
                <a:schemeClr val="dk1"/>
              </a:buClr>
              <a:buSzPts val="1200"/>
              <a:buFont typeface="Roboto Condensed"/>
              <a:buNone/>
              <a:defRPr sz="1600">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37545817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BG]" preserve="1">
  <p:cSld name="Blank [BG]">
    <p:bg>
      <p:bgPr>
        <a:blipFill>
          <a:blip r:embed="rId2">
            <a:alphaModFix/>
          </a:blip>
          <a:stretch>
            <a:fillRect/>
          </a:stretch>
        </a:blipFill>
        <a:effectLst/>
      </p:bgPr>
    </p:bg>
    <p:spTree>
      <p:nvGrpSpPr>
        <p:cNvPr id="1" name="Shape 47"/>
        <p:cNvGrpSpPr/>
        <p:nvPr/>
      </p:nvGrpSpPr>
      <p:grpSpPr>
        <a:xfrm>
          <a:off x="0" y="0"/>
          <a:ext cx="0" cy="0"/>
          <a:chOff x="0" y="0"/>
          <a:chExt cx="0" cy="0"/>
        </a:xfrm>
      </p:grpSpPr>
    </p:spTree>
    <p:extLst>
      <p:ext uri="{BB962C8B-B14F-4D97-AF65-F5344CB8AC3E}">
        <p14:creationId xmlns:p14="http://schemas.microsoft.com/office/powerpoint/2010/main" val="4234509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4" preserve="1">
  <p:cSld name="Section header 4">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51"/>
          <p:cNvSpPr txBox="1">
            <a:spLocks noGrp="1"/>
          </p:cNvSpPr>
          <p:nvPr>
            <p:ph type="ctrTitle"/>
          </p:nvPr>
        </p:nvSpPr>
        <p:spPr>
          <a:xfrm>
            <a:off x="1685100" y="1745933"/>
            <a:ext cx="8876400" cy="20184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rgbClr val="FFFFFF"/>
              </a:buClr>
              <a:buSzPts val="3800"/>
              <a:buFont typeface="Roboto Condensed"/>
              <a:buNone/>
              <a:defRPr>
                <a:solidFill>
                  <a:srgbClr val="FFFFFF"/>
                </a:solidFill>
                <a:latin typeface="Roboto Condensed"/>
                <a:ea typeface="Roboto Condensed"/>
                <a:cs typeface="Roboto Condensed"/>
                <a:sym typeface="Roboto Condensed"/>
              </a:defRPr>
            </a:lvl1pPr>
            <a:lvl2pPr lvl="1" algn="ctr">
              <a:lnSpc>
                <a:spcPct val="100000"/>
              </a:lnSpc>
              <a:spcBef>
                <a:spcPts val="0"/>
              </a:spcBef>
              <a:spcAft>
                <a:spcPts val="0"/>
              </a:spcAft>
              <a:buSzPts val="1100"/>
              <a:buNone/>
              <a:defRPr/>
            </a:lvl2pPr>
            <a:lvl3pPr lvl="2" algn="ctr">
              <a:lnSpc>
                <a:spcPct val="100000"/>
              </a:lnSpc>
              <a:spcBef>
                <a:spcPts val="0"/>
              </a:spcBef>
              <a:spcAft>
                <a:spcPts val="0"/>
              </a:spcAft>
              <a:buSzPts val="1100"/>
              <a:buNone/>
              <a:defRPr/>
            </a:lvl3pPr>
            <a:lvl4pPr lvl="3" algn="ctr">
              <a:lnSpc>
                <a:spcPct val="100000"/>
              </a:lnSpc>
              <a:spcBef>
                <a:spcPts val="0"/>
              </a:spcBef>
              <a:spcAft>
                <a:spcPts val="0"/>
              </a:spcAft>
              <a:buSzPts val="1100"/>
              <a:buNone/>
              <a:defRPr/>
            </a:lvl4pPr>
            <a:lvl5pPr lvl="4" algn="ctr">
              <a:lnSpc>
                <a:spcPct val="100000"/>
              </a:lnSpc>
              <a:spcBef>
                <a:spcPts val="0"/>
              </a:spcBef>
              <a:spcAft>
                <a:spcPts val="0"/>
              </a:spcAft>
              <a:buSzPts val="1100"/>
              <a:buNone/>
              <a:defRPr/>
            </a:lvl5pPr>
            <a:lvl6pPr lvl="5" algn="ctr">
              <a:lnSpc>
                <a:spcPct val="100000"/>
              </a:lnSpc>
              <a:spcBef>
                <a:spcPts val="0"/>
              </a:spcBef>
              <a:spcAft>
                <a:spcPts val="0"/>
              </a:spcAft>
              <a:buSzPts val="1100"/>
              <a:buNone/>
              <a:defRPr/>
            </a:lvl6pPr>
            <a:lvl7pPr lvl="6" algn="ctr">
              <a:lnSpc>
                <a:spcPct val="100000"/>
              </a:lnSpc>
              <a:spcBef>
                <a:spcPts val="0"/>
              </a:spcBef>
              <a:spcAft>
                <a:spcPts val="0"/>
              </a:spcAft>
              <a:buSzPts val="1100"/>
              <a:buNone/>
              <a:defRPr/>
            </a:lvl7pPr>
            <a:lvl8pPr lvl="7" algn="ctr">
              <a:lnSpc>
                <a:spcPct val="100000"/>
              </a:lnSpc>
              <a:spcBef>
                <a:spcPts val="0"/>
              </a:spcBef>
              <a:spcAft>
                <a:spcPts val="0"/>
              </a:spcAft>
              <a:buSzPts val="1100"/>
              <a:buNone/>
              <a:defRPr/>
            </a:lvl8pPr>
            <a:lvl9pPr lvl="8" algn="ctr">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40921936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BG]" preserve="1">
  <p:cSld name="Title and Body [BG]">
    <p:bg>
      <p:bgPr>
        <a:blipFill>
          <a:blip r:embed="rId2">
            <a:alphaModFix/>
          </a:blip>
          <a:stretch>
            <a:fillRect/>
          </a:stretch>
        </a:blipFill>
        <a:effectLst/>
      </p:bgPr>
    </p:bg>
    <p:spTree>
      <p:nvGrpSpPr>
        <p:cNvPr id="1" name="Shape 50"/>
        <p:cNvGrpSpPr/>
        <p:nvPr/>
      </p:nvGrpSpPr>
      <p:grpSpPr>
        <a:xfrm>
          <a:off x="0" y="0"/>
          <a:ext cx="0" cy="0"/>
          <a:chOff x="0" y="0"/>
          <a:chExt cx="0" cy="0"/>
        </a:xfrm>
      </p:grpSpPr>
      <p:sp>
        <p:nvSpPr>
          <p:cNvPr id="51" name="Google Shape;51;p52"/>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52" name="Google Shape;52;p52"/>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l">
              <a:lnSpc>
                <a:spcPct val="114000"/>
              </a:lnSpc>
              <a:spcBef>
                <a:spcPts val="0"/>
              </a:spcBef>
              <a:spcAft>
                <a:spcPts val="0"/>
              </a:spcAft>
              <a:buClr>
                <a:schemeClr val="dk1"/>
              </a:buClr>
              <a:buSzPts val="1500"/>
              <a:buFont typeface="Roboto Condensed"/>
              <a:buNone/>
              <a:defRPr sz="2000" i="0" u="none" strike="noStrike" cap="none">
                <a:solidFill>
                  <a:schemeClr val="dk1"/>
                </a:solidFill>
              </a:defRPr>
            </a:lvl1pPr>
            <a:lvl2pPr marL="914400" marR="0" lvl="1" indent="-311150" algn="l">
              <a:lnSpc>
                <a:spcPct val="115000"/>
              </a:lnSpc>
              <a:spcBef>
                <a:spcPts val="1333"/>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Char char="•"/>
              <a:defRPr sz="1733" i="0" u="none" strike="noStrike" cap="none">
                <a:solidFill>
                  <a:schemeClr val="dk1"/>
                </a:solidFill>
              </a:defRPr>
            </a:lvl6pPr>
            <a:lvl7pPr marL="3200400" marR="0" lvl="6" indent="-311150" algn="l">
              <a:lnSpc>
                <a:spcPct val="115000"/>
              </a:lnSpc>
              <a:spcBef>
                <a:spcPts val="667"/>
              </a:spcBef>
              <a:spcAft>
                <a:spcPts val="0"/>
              </a:spcAft>
              <a:buClr>
                <a:schemeClr val="dk1"/>
              </a:buClr>
              <a:buSzPts val="1300"/>
              <a:buChar char="•"/>
              <a:defRPr sz="1733" i="0" u="none" strike="noStrike" cap="none">
                <a:solidFill>
                  <a:schemeClr val="dk1"/>
                </a:solidFill>
              </a:defRPr>
            </a:lvl7pPr>
            <a:lvl8pPr marL="3657600" marR="0" lvl="7" indent="-311150" algn="l">
              <a:lnSpc>
                <a:spcPct val="115000"/>
              </a:lnSpc>
              <a:spcBef>
                <a:spcPts val="667"/>
              </a:spcBef>
              <a:spcAft>
                <a:spcPts val="0"/>
              </a:spcAft>
              <a:buClr>
                <a:schemeClr val="dk1"/>
              </a:buClr>
              <a:buSzPts val="1300"/>
              <a:buChar char="•"/>
              <a:defRPr sz="1733" i="0" u="none" strike="noStrike" cap="none">
                <a:solidFill>
                  <a:schemeClr val="dk1"/>
                </a:solidFill>
              </a:defRPr>
            </a:lvl8pPr>
            <a:lvl9pPr marL="4114800" marR="0" lvl="8" indent="-311150" algn="l">
              <a:lnSpc>
                <a:spcPct val="115000"/>
              </a:lnSpc>
              <a:spcBef>
                <a:spcPts val="667"/>
              </a:spcBef>
              <a:spcAft>
                <a:spcPts val="667"/>
              </a:spcAft>
              <a:buClr>
                <a:schemeClr val="dk1"/>
              </a:buClr>
              <a:buSzPts val="1300"/>
              <a:buChar char="•"/>
              <a:defRPr sz="1733" i="0" u="none" strike="noStrike" cap="none">
                <a:solidFill>
                  <a:schemeClr val="dk1"/>
                </a:solidFill>
              </a:defRPr>
            </a:lvl9pPr>
          </a:lstStyle>
          <a:p>
            <a:endParaRPr/>
          </a:p>
        </p:txBody>
      </p:sp>
    </p:spTree>
    <p:extLst>
      <p:ext uri="{BB962C8B-B14F-4D97-AF65-F5344CB8AC3E}">
        <p14:creationId xmlns:p14="http://schemas.microsoft.com/office/powerpoint/2010/main" val="1622310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 Highlight 2" preserve="1">
  <p:cSld name="Title and Body - Highlight 2">
    <p:bg>
      <p:bgPr>
        <a:blipFill>
          <a:blip r:embed="rId2">
            <a:alphaModFix/>
          </a:blip>
          <a:stretch>
            <a:fillRect/>
          </a:stretch>
        </a:blipFill>
        <a:effectLst/>
      </p:bgPr>
    </p:bg>
    <p:spTree>
      <p:nvGrpSpPr>
        <p:cNvPr id="1" name="Shape 53"/>
        <p:cNvGrpSpPr/>
        <p:nvPr/>
      </p:nvGrpSpPr>
      <p:grpSpPr>
        <a:xfrm>
          <a:off x="0" y="0"/>
          <a:ext cx="0" cy="0"/>
          <a:chOff x="0" y="0"/>
          <a:chExt cx="0" cy="0"/>
        </a:xfrm>
      </p:grpSpPr>
      <p:sp>
        <p:nvSpPr>
          <p:cNvPr id="54" name="Google Shape;54;p53"/>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55" name="Google Shape;55;p53"/>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l">
              <a:lnSpc>
                <a:spcPct val="114000"/>
              </a:lnSpc>
              <a:spcBef>
                <a:spcPts val="0"/>
              </a:spcBef>
              <a:spcAft>
                <a:spcPts val="0"/>
              </a:spcAft>
              <a:buClr>
                <a:schemeClr val="dk1"/>
              </a:buClr>
              <a:buSzPts val="1500"/>
              <a:buFont typeface="Roboto Condensed"/>
              <a:buNone/>
              <a:defRPr sz="2000" i="0" u="none" strike="noStrike" cap="none">
                <a:solidFill>
                  <a:schemeClr val="dk1"/>
                </a:solidFill>
              </a:defRPr>
            </a:lvl1pPr>
            <a:lvl2pPr marL="914400" marR="0" lvl="1" indent="-311150" algn="l">
              <a:lnSpc>
                <a:spcPct val="115000"/>
              </a:lnSpc>
              <a:spcBef>
                <a:spcPts val="1333"/>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Char char="•"/>
              <a:defRPr sz="1733" i="0" u="none" strike="noStrike" cap="none">
                <a:solidFill>
                  <a:schemeClr val="dk1"/>
                </a:solidFill>
              </a:defRPr>
            </a:lvl6pPr>
            <a:lvl7pPr marL="3200400" marR="0" lvl="6" indent="-311150" algn="l">
              <a:lnSpc>
                <a:spcPct val="115000"/>
              </a:lnSpc>
              <a:spcBef>
                <a:spcPts val="667"/>
              </a:spcBef>
              <a:spcAft>
                <a:spcPts val="0"/>
              </a:spcAft>
              <a:buClr>
                <a:schemeClr val="dk1"/>
              </a:buClr>
              <a:buSzPts val="1300"/>
              <a:buChar char="•"/>
              <a:defRPr sz="1733" i="0" u="none" strike="noStrike" cap="none">
                <a:solidFill>
                  <a:schemeClr val="dk1"/>
                </a:solidFill>
              </a:defRPr>
            </a:lvl7pPr>
            <a:lvl8pPr marL="3657600" marR="0" lvl="7" indent="-311150" algn="l">
              <a:lnSpc>
                <a:spcPct val="115000"/>
              </a:lnSpc>
              <a:spcBef>
                <a:spcPts val="667"/>
              </a:spcBef>
              <a:spcAft>
                <a:spcPts val="0"/>
              </a:spcAft>
              <a:buClr>
                <a:schemeClr val="dk1"/>
              </a:buClr>
              <a:buSzPts val="1300"/>
              <a:buChar char="•"/>
              <a:defRPr sz="1733" i="0" u="none" strike="noStrike" cap="none">
                <a:solidFill>
                  <a:schemeClr val="dk1"/>
                </a:solidFill>
              </a:defRPr>
            </a:lvl8pPr>
            <a:lvl9pPr marL="4114800" marR="0" lvl="8" indent="-311150" algn="l">
              <a:lnSpc>
                <a:spcPct val="115000"/>
              </a:lnSpc>
              <a:spcBef>
                <a:spcPts val="667"/>
              </a:spcBef>
              <a:spcAft>
                <a:spcPts val="667"/>
              </a:spcAft>
              <a:buClr>
                <a:schemeClr val="dk1"/>
              </a:buClr>
              <a:buSzPts val="1300"/>
              <a:buChar char="•"/>
              <a:defRPr sz="1733" i="0" u="none" strike="noStrike" cap="none">
                <a:solidFill>
                  <a:schemeClr val="dk1"/>
                </a:solidFill>
              </a:defRPr>
            </a:lvl9pPr>
          </a:lstStyle>
          <a:p>
            <a:endParaRPr/>
          </a:p>
        </p:txBody>
      </p:sp>
      <p:sp>
        <p:nvSpPr>
          <p:cNvPr id="56" name="Google Shape;56;p53"/>
          <p:cNvSpPr/>
          <p:nvPr/>
        </p:nvSpPr>
        <p:spPr>
          <a:xfrm rot="5400000">
            <a:off x="-293000" y="650100"/>
            <a:ext cx="686800" cy="100800"/>
          </a:xfrm>
          <a:prstGeom prst="rect">
            <a:avLst/>
          </a:prstGeom>
          <a:solidFill>
            <a:srgbClr val="EFC41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867"/>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509530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 Right" preserve="1">
  <p:cSld name="One Column - Right">
    <p:spTree>
      <p:nvGrpSpPr>
        <p:cNvPr id="1" name="Shape 57"/>
        <p:cNvGrpSpPr/>
        <p:nvPr/>
      </p:nvGrpSpPr>
      <p:grpSpPr>
        <a:xfrm>
          <a:off x="0" y="0"/>
          <a:ext cx="0" cy="0"/>
          <a:chOff x="0" y="0"/>
          <a:chExt cx="0" cy="0"/>
        </a:xfrm>
      </p:grpSpPr>
      <p:sp>
        <p:nvSpPr>
          <p:cNvPr id="58" name="Google Shape;58;p54"/>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59" name="Google Shape;59;p54"/>
          <p:cNvSpPr txBox="1">
            <a:spLocks noGrp="1"/>
          </p:cNvSpPr>
          <p:nvPr>
            <p:ph type="body" idx="1"/>
          </p:nvPr>
        </p:nvSpPr>
        <p:spPr>
          <a:xfrm>
            <a:off x="6306533" y="1297100"/>
            <a:ext cx="5531600" cy="5246000"/>
          </a:xfrm>
          <a:prstGeom prst="rect">
            <a:avLst/>
          </a:prstGeom>
          <a:noFill/>
          <a:ln>
            <a:noFill/>
          </a:ln>
        </p:spPr>
        <p:txBody>
          <a:bodyPr spcFirstLastPara="1" wrap="square" lIns="68575" tIns="34275" rIns="68575" bIns="34275" anchor="t" anchorCtr="0">
            <a:noAutofit/>
          </a:bodyPr>
          <a:lstStyle>
            <a:lvl1pPr marL="457200" marR="0" lvl="0" indent="-228600" algn="l">
              <a:lnSpc>
                <a:spcPct val="115000"/>
              </a:lnSpc>
              <a:spcBef>
                <a:spcPts val="0"/>
              </a:spcBef>
              <a:spcAft>
                <a:spcPts val="0"/>
              </a:spcAft>
              <a:buClr>
                <a:schemeClr val="dk1"/>
              </a:buClr>
              <a:buSzPts val="1500"/>
              <a:buFont typeface="Roboto Condensed"/>
              <a:buNone/>
              <a:defRPr sz="2000" i="0" u="none" strike="noStrike" cap="none">
                <a:solidFill>
                  <a:schemeClr val="dk1"/>
                </a:solidFill>
                <a:latin typeface="Roboto Condensed"/>
                <a:ea typeface="Roboto Condensed"/>
                <a:cs typeface="Roboto Condensed"/>
                <a:sym typeface="Roboto Condensed"/>
              </a:defRPr>
            </a:lvl1pPr>
            <a:lvl2pPr marL="914400" marR="0" lvl="1" indent="-311150" algn="l">
              <a:lnSpc>
                <a:spcPct val="115000"/>
              </a:lnSpc>
              <a:spcBef>
                <a:spcPts val="1333"/>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6pPr>
            <a:lvl7pPr marL="3200400" marR="0" lvl="6"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7pPr>
            <a:lvl8pPr marL="3657600" marR="0" lvl="7"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8pPr>
            <a:lvl9pPr marL="4114800" marR="0" lvl="8" indent="-311150" algn="l">
              <a:lnSpc>
                <a:spcPct val="115000"/>
              </a:lnSpc>
              <a:spcBef>
                <a:spcPts val="667"/>
              </a:spcBef>
              <a:spcAft>
                <a:spcPts val="667"/>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38485002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 Left" preserve="1">
  <p:cSld name="One column - Left">
    <p:spTree>
      <p:nvGrpSpPr>
        <p:cNvPr id="1" name="Shape 60"/>
        <p:cNvGrpSpPr/>
        <p:nvPr/>
      </p:nvGrpSpPr>
      <p:grpSpPr>
        <a:xfrm>
          <a:off x="0" y="0"/>
          <a:ext cx="0" cy="0"/>
          <a:chOff x="0" y="0"/>
          <a:chExt cx="0" cy="0"/>
        </a:xfrm>
      </p:grpSpPr>
      <p:sp>
        <p:nvSpPr>
          <p:cNvPr id="61" name="Google Shape;61;p55"/>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3800"/>
              <a:buFont typeface="Roboto Condensed"/>
              <a:buNone/>
              <a:defRPr sz="5067" b="1" i="0" u="none" strike="noStrike" cap="none">
                <a:solidFill>
                  <a:schemeClr val="dk1"/>
                </a:solidFill>
                <a:latin typeface="Roboto Condensed"/>
                <a:ea typeface="Roboto Condensed"/>
                <a:cs typeface="Roboto Condensed"/>
                <a:sym typeface="Roboto Condensed"/>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endParaRPr/>
          </a:p>
        </p:txBody>
      </p:sp>
      <p:sp>
        <p:nvSpPr>
          <p:cNvPr id="62" name="Google Shape;62;p55"/>
          <p:cNvSpPr txBox="1">
            <a:spLocks noGrp="1"/>
          </p:cNvSpPr>
          <p:nvPr>
            <p:ph type="body" idx="1"/>
          </p:nvPr>
        </p:nvSpPr>
        <p:spPr>
          <a:xfrm>
            <a:off x="436600" y="1297100"/>
            <a:ext cx="5531600" cy="5246000"/>
          </a:xfrm>
          <a:prstGeom prst="rect">
            <a:avLst/>
          </a:prstGeom>
          <a:noFill/>
          <a:ln>
            <a:noFill/>
          </a:ln>
        </p:spPr>
        <p:txBody>
          <a:bodyPr spcFirstLastPara="1" wrap="square" lIns="68575" tIns="34275" rIns="68575" bIns="34275" anchor="t" anchorCtr="0">
            <a:noAutofit/>
          </a:bodyPr>
          <a:lstStyle>
            <a:lvl1pPr marL="457200" marR="0" lvl="0" indent="-228600" algn="l">
              <a:lnSpc>
                <a:spcPct val="115000"/>
              </a:lnSpc>
              <a:spcBef>
                <a:spcPts val="0"/>
              </a:spcBef>
              <a:spcAft>
                <a:spcPts val="0"/>
              </a:spcAft>
              <a:buClr>
                <a:schemeClr val="dk1"/>
              </a:buClr>
              <a:buSzPts val="1500"/>
              <a:buFont typeface="Roboto Condensed"/>
              <a:buNone/>
              <a:defRPr sz="2000" i="0" u="none" strike="noStrike" cap="none">
                <a:solidFill>
                  <a:schemeClr val="dk1"/>
                </a:solidFill>
                <a:latin typeface="Roboto Condensed"/>
                <a:ea typeface="Roboto Condensed"/>
                <a:cs typeface="Roboto Condensed"/>
                <a:sym typeface="Roboto Condensed"/>
              </a:defRPr>
            </a:lvl1pPr>
            <a:lvl2pPr marL="914400" marR="0" lvl="1" indent="-311150" algn="l">
              <a:lnSpc>
                <a:spcPct val="115000"/>
              </a:lnSpc>
              <a:spcBef>
                <a:spcPts val="1333"/>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2pPr>
            <a:lvl3pPr marL="1371600" marR="0" lvl="2"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3pPr>
            <a:lvl4pPr marL="1828800" marR="0" lvl="3"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4pPr>
            <a:lvl5pPr marL="2286000" marR="0" lvl="4"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5pPr>
            <a:lvl6pPr marL="2743200" marR="0" lvl="5"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6pPr>
            <a:lvl7pPr marL="3200400" marR="0" lvl="6"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7pPr>
            <a:lvl8pPr marL="3657600" marR="0" lvl="7" indent="-311150" algn="l">
              <a:lnSpc>
                <a:spcPct val="115000"/>
              </a:lnSpc>
              <a:spcBef>
                <a:spcPts val="667"/>
              </a:spcBef>
              <a:spcAft>
                <a:spcPts val="0"/>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8pPr>
            <a:lvl9pPr marL="4114800" marR="0" lvl="8" indent="-311150" algn="l">
              <a:lnSpc>
                <a:spcPct val="115000"/>
              </a:lnSpc>
              <a:spcBef>
                <a:spcPts val="667"/>
              </a:spcBef>
              <a:spcAft>
                <a:spcPts val="667"/>
              </a:spcAft>
              <a:buClr>
                <a:schemeClr val="dk1"/>
              </a:buClr>
              <a:buSzPts val="1300"/>
              <a:buFont typeface="Roboto Condensed"/>
              <a:buChar char="•"/>
              <a:defRPr sz="1733" i="0" u="none" strike="noStrike" cap="none">
                <a:solidFill>
                  <a:schemeClr val="dk1"/>
                </a:solidFill>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28729500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BG]" preserve="1">
  <p:cSld name="Title Only [BG]">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56"/>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dirty="0"/>
          </a:p>
        </p:txBody>
      </p:sp>
    </p:spTree>
    <p:extLst>
      <p:ext uri="{BB962C8B-B14F-4D97-AF65-F5344CB8AC3E}">
        <p14:creationId xmlns:p14="http://schemas.microsoft.com/office/powerpoint/2010/main" val="936112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Google Shape;10;p37"/>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800"/>
              <a:buFont typeface="Roboto Condensed"/>
              <a:buNone/>
              <a:defRPr sz="3800" b="1" i="0" u="none" strike="noStrike" cap="none">
                <a:solidFill>
                  <a:schemeClr val="dk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11" name="Google Shape;11;p37"/>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just" rtl="0">
              <a:lnSpc>
                <a:spcPct val="114000"/>
              </a:lnSpc>
              <a:spcBef>
                <a:spcPts val="0"/>
              </a:spcBef>
              <a:spcAft>
                <a:spcPts val="0"/>
              </a:spcAft>
              <a:buClr>
                <a:schemeClr val="dk1"/>
              </a:buClr>
              <a:buSzPts val="1500"/>
              <a:buFont typeface="Roboto Condensed"/>
              <a:buNone/>
              <a:defRPr sz="1500" b="0" i="0" u="none" strike="noStrike" cap="none">
                <a:solidFill>
                  <a:schemeClr val="dk1"/>
                </a:solidFill>
                <a:latin typeface="Roboto Condensed"/>
                <a:ea typeface="Roboto Condensed"/>
                <a:cs typeface="Roboto Condensed"/>
                <a:sym typeface="Roboto Condensed"/>
              </a:defRPr>
            </a:lvl1pPr>
            <a:lvl2pPr marL="914400" marR="0" lvl="1" indent="-311150" algn="just" rtl="0">
              <a:lnSpc>
                <a:spcPct val="115000"/>
              </a:lnSpc>
              <a:spcBef>
                <a:spcPts val="10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2pPr>
            <a:lvl3pPr marL="1371600" marR="0" lvl="2"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3pPr>
            <a:lvl4pPr marL="1828800" marR="0" lvl="3"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4pPr>
            <a:lvl5pPr marL="2286000" marR="0" lvl="4"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5pPr>
            <a:lvl6pPr marL="2743200" marR="0" lvl="5"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6pPr>
            <a:lvl7pPr marL="3200400" marR="0" lvl="6"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7pPr>
            <a:lvl8pPr marL="3657600" marR="0" lvl="7"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8pPr>
            <a:lvl9pPr marL="4114800" marR="0" lvl="8" indent="-311150" algn="just" rtl="0">
              <a:lnSpc>
                <a:spcPct val="115000"/>
              </a:lnSpc>
              <a:spcBef>
                <a:spcPts val="500"/>
              </a:spcBef>
              <a:spcAft>
                <a:spcPts val="50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9pPr>
          </a:lstStyle>
          <a:p>
            <a:endParaRPr dirty="0"/>
          </a:p>
        </p:txBody>
      </p:sp>
    </p:spTree>
    <p:extLst>
      <p:ext uri="{BB962C8B-B14F-4D97-AF65-F5344CB8AC3E}">
        <p14:creationId xmlns:p14="http://schemas.microsoft.com/office/powerpoint/2010/main" val="1359754240"/>
      </p:ext>
    </p:extLst>
  </p:cSld>
  <p:clrMap bg1="lt1" tx1="dk1" bg2="dk2"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37"/>
        <p:cNvGrpSpPr/>
        <p:nvPr/>
      </p:nvGrpSpPr>
      <p:grpSpPr>
        <a:xfrm>
          <a:off x="0" y="0"/>
          <a:ext cx="0" cy="0"/>
          <a:chOff x="0" y="0"/>
          <a:chExt cx="0" cy="0"/>
        </a:xfrm>
      </p:grpSpPr>
      <p:sp>
        <p:nvSpPr>
          <p:cNvPr id="38" name="Google Shape;38;p40"/>
          <p:cNvSpPr txBox="1">
            <a:spLocks noGrp="1"/>
          </p:cNvSpPr>
          <p:nvPr>
            <p:ph type="title"/>
          </p:nvPr>
        </p:nvSpPr>
        <p:spPr>
          <a:xfrm>
            <a:off x="436605" y="255716"/>
            <a:ext cx="11310400" cy="8376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800"/>
              <a:buFont typeface="Roboto Condensed"/>
              <a:buNone/>
              <a:defRPr sz="3800" b="1" i="0" u="none" strike="noStrike" cap="none">
                <a:solidFill>
                  <a:schemeClr val="dk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39" name="Google Shape;39;p40"/>
          <p:cNvSpPr txBox="1">
            <a:spLocks noGrp="1"/>
          </p:cNvSpPr>
          <p:nvPr>
            <p:ph type="body" idx="1"/>
          </p:nvPr>
        </p:nvSpPr>
        <p:spPr>
          <a:xfrm>
            <a:off x="436600" y="1296867"/>
            <a:ext cx="11310400" cy="5190800"/>
          </a:xfrm>
          <a:prstGeom prst="rect">
            <a:avLst/>
          </a:prstGeom>
          <a:noFill/>
          <a:ln>
            <a:noFill/>
          </a:ln>
        </p:spPr>
        <p:txBody>
          <a:bodyPr spcFirstLastPara="1" wrap="square" lIns="68575" tIns="34275" rIns="68575" bIns="34275" anchor="t" anchorCtr="0">
            <a:noAutofit/>
          </a:bodyPr>
          <a:lstStyle>
            <a:lvl1pPr marL="457200" marR="0" lvl="0" indent="-228600" algn="just" rtl="0">
              <a:lnSpc>
                <a:spcPct val="114000"/>
              </a:lnSpc>
              <a:spcBef>
                <a:spcPts val="0"/>
              </a:spcBef>
              <a:spcAft>
                <a:spcPts val="0"/>
              </a:spcAft>
              <a:buClr>
                <a:schemeClr val="dk1"/>
              </a:buClr>
              <a:buSzPts val="1500"/>
              <a:buFont typeface="Roboto Condensed"/>
              <a:buNone/>
              <a:defRPr sz="1500" b="0" i="0" u="none" strike="noStrike" cap="none">
                <a:solidFill>
                  <a:schemeClr val="dk1"/>
                </a:solidFill>
                <a:latin typeface="Roboto Condensed"/>
                <a:ea typeface="Roboto Condensed"/>
                <a:cs typeface="Roboto Condensed"/>
                <a:sym typeface="Roboto Condensed"/>
              </a:defRPr>
            </a:lvl1pPr>
            <a:lvl2pPr marL="914400" marR="0" lvl="1" indent="-311150" algn="just" rtl="0">
              <a:lnSpc>
                <a:spcPct val="115000"/>
              </a:lnSpc>
              <a:spcBef>
                <a:spcPts val="10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2pPr>
            <a:lvl3pPr marL="1371600" marR="0" lvl="2"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3pPr>
            <a:lvl4pPr marL="1828800" marR="0" lvl="3"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4pPr>
            <a:lvl5pPr marL="2286000" marR="0" lvl="4"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5pPr>
            <a:lvl6pPr marL="2743200" marR="0" lvl="5"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6pPr>
            <a:lvl7pPr marL="3200400" marR="0" lvl="6"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7pPr>
            <a:lvl8pPr marL="3657600" marR="0" lvl="7" indent="-311150" algn="just" rtl="0">
              <a:lnSpc>
                <a:spcPct val="115000"/>
              </a:lnSpc>
              <a:spcBef>
                <a:spcPts val="500"/>
              </a:spcBef>
              <a:spcAft>
                <a:spcPts val="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8pPr>
            <a:lvl9pPr marL="4114800" marR="0" lvl="8" indent="-311150" algn="just" rtl="0">
              <a:lnSpc>
                <a:spcPct val="115000"/>
              </a:lnSpc>
              <a:spcBef>
                <a:spcPts val="500"/>
              </a:spcBef>
              <a:spcAft>
                <a:spcPts val="500"/>
              </a:spcAft>
              <a:buClr>
                <a:schemeClr val="dk1"/>
              </a:buClr>
              <a:buSzPts val="1300"/>
              <a:buFont typeface="Roboto Condensed"/>
              <a:buChar char="•"/>
              <a:defRPr sz="1300" b="0" i="0" u="none" strike="noStrike" cap="none">
                <a:solidFill>
                  <a:schemeClr val="dk1"/>
                </a:solidFill>
                <a:latin typeface="Roboto Condensed"/>
                <a:ea typeface="Roboto Condensed"/>
                <a:cs typeface="Roboto Condensed"/>
                <a:sym typeface="Roboto Condensed"/>
              </a:defRPr>
            </a:lvl9pPr>
          </a:lstStyle>
          <a:p>
            <a:endParaRPr/>
          </a:p>
        </p:txBody>
      </p:sp>
    </p:spTree>
    <p:extLst>
      <p:ext uri="{BB962C8B-B14F-4D97-AF65-F5344CB8AC3E}">
        <p14:creationId xmlns:p14="http://schemas.microsoft.com/office/powerpoint/2010/main" val="2933685626"/>
      </p:ext>
    </p:extLst>
  </p:cSld>
  <p:clrMap bg1="lt1" tx1="dk1" bg2="dk2" tx2="lt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c.qt.io/qt-5/qtqml-cppintegration-overview.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
          <p:cNvSpPr txBox="1">
            <a:spLocks noGrp="1"/>
          </p:cNvSpPr>
          <p:nvPr>
            <p:ph type="ctrTitle"/>
          </p:nvPr>
        </p:nvSpPr>
        <p:spPr>
          <a:xfrm>
            <a:off x="4636643" y="4868396"/>
            <a:ext cx="7162800" cy="705200"/>
          </a:xfrm>
          <a:prstGeom prst="rect">
            <a:avLst/>
          </a:prstGeom>
          <a:noFill/>
          <a:ln>
            <a:noFill/>
          </a:ln>
        </p:spPr>
        <p:txBody>
          <a:bodyPr spcFirstLastPara="1" wrap="square" lIns="91425" tIns="45700" rIns="91425" bIns="45700" anchor="b" anchorCtr="0">
            <a:noAutofit/>
          </a:bodyPr>
          <a:lstStyle/>
          <a:p>
            <a:pPr algn="l" fontAlgn="base"/>
            <a:r>
              <a:rPr lang="en-US" b="0" i="0" dirty="0">
                <a:solidFill>
                  <a:srgbClr val="404244"/>
                </a:solidFill>
                <a:effectLst/>
                <a:latin typeface="Titillium Web"/>
              </a:rPr>
              <a:t>QML and C++ Integration</a:t>
            </a:r>
          </a:p>
        </p:txBody>
      </p:sp>
      <p:sp>
        <p:nvSpPr>
          <p:cNvPr id="70" name="Google Shape;70;p1"/>
          <p:cNvSpPr txBox="1">
            <a:spLocks noGrp="1"/>
          </p:cNvSpPr>
          <p:nvPr>
            <p:ph type="subTitle" idx="1"/>
          </p:nvPr>
        </p:nvSpPr>
        <p:spPr>
          <a:xfrm>
            <a:off x="4664268" y="5493407"/>
            <a:ext cx="7125600" cy="450800"/>
          </a:xfrm>
          <a:prstGeom prst="rect">
            <a:avLst/>
          </a:prstGeom>
          <a:noFill/>
          <a:ln>
            <a:noFill/>
          </a:ln>
        </p:spPr>
        <p:txBody>
          <a:bodyPr spcFirstLastPara="1" wrap="square" lIns="91425" tIns="45700" rIns="91425" bIns="45700" anchor="ctr" anchorCtr="0">
            <a:normAutofit fontScale="85000" lnSpcReduction="20000"/>
          </a:bodyPr>
          <a:lstStyle/>
          <a:p>
            <a:pPr marL="0" lvl="0" indent="0" algn="l" rtl="0">
              <a:lnSpc>
                <a:spcPct val="90000"/>
              </a:lnSpc>
              <a:spcBef>
                <a:spcPts val="1067"/>
              </a:spcBef>
              <a:spcAft>
                <a:spcPts val="0"/>
              </a:spcAft>
              <a:buSzPts val="1700"/>
              <a:buNone/>
            </a:pPr>
            <a:r>
              <a:rPr lang="en-US" dirty="0"/>
              <a:t>Oct, 2020</a:t>
            </a:r>
            <a:endParaRPr dirty="0"/>
          </a:p>
        </p:txBody>
      </p:sp>
    </p:spTree>
    <p:extLst>
      <p:ext uri="{BB962C8B-B14F-4D97-AF65-F5344CB8AC3E}">
        <p14:creationId xmlns:p14="http://schemas.microsoft.com/office/powerpoint/2010/main" val="2841809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dirty="0"/>
              <a:t>Agenda</a:t>
            </a:r>
            <a:endParaRPr sz="4800" dirty="0"/>
          </a:p>
        </p:txBody>
      </p:sp>
      <p:sp>
        <p:nvSpPr>
          <p:cNvPr id="76" name="Google Shape;76;p2"/>
          <p:cNvSpPr txBox="1">
            <a:spLocks noGrp="1"/>
          </p:cNvSpPr>
          <p:nvPr>
            <p:ph type="body" idx="1"/>
          </p:nvPr>
        </p:nvSpPr>
        <p:spPr>
          <a:xfrm>
            <a:off x="436600" y="1093316"/>
            <a:ext cx="11310400" cy="5394351"/>
          </a:xfrm>
          <a:prstGeom prst="rect">
            <a:avLst/>
          </a:prstGeom>
          <a:noFill/>
          <a:ln>
            <a:noFill/>
          </a:ln>
        </p:spPr>
        <p:txBody>
          <a:bodyPr spcFirstLastPara="1" wrap="square" lIns="68575" tIns="34275" rIns="68575" bIns="34275" anchor="t" anchorCtr="0">
            <a:normAutofit/>
          </a:bodyPr>
          <a:lstStyle/>
          <a:p>
            <a:pPr marL="647693" lvl="0" indent="-342900">
              <a:lnSpc>
                <a:spcPct val="104000"/>
              </a:lnSpc>
              <a:buFont typeface="Noto Sans Symbols"/>
              <a:buChar char="❖"/>
            </a:pPr>
            <a:r>
              <a:rPr lang="en-US" sz="1600" dirty="0"/>
              <a:t>Overview</a:t>
            </a:r>
          </a:p>
          <a:p>
            <a:pPr marL="647693" lvl="0" indent="-342900">
              <a:lnSpc>
                <a:spcPct val="104000"/>
              </a:lnSpc>
              <a:buFont typeface="Noto Sans Symbols"/>
              <a:buChar char="❖"/>
            </a:pPr>
            <a:r>
              <a:rPr lang="en-US" sz="1600" dirty="0"/>
              <a:t>Access a C++ Object from QML</a:t>
            </a:r>
          </a:p>
          <a:p>
            <a:pPr marL="647693" lvl="0" indent="-342900">
              <a:lnSpc>
                <a:spcPct val="104000"/>
              </a:lnSpc>
              <a:buFont typeface="Noto Sans Symbols"/>
              <a:buChar char="❖"/>
            </a:pPr>
            <a:r>
              <a:rPr lang="en-US" sz="1600" dirty="0"/>
              <a:t>Register C++ Class as a QML Type</a:t>
            </a:r>
            <a:endParaRPr lang="en-US" sz="1316" dirty="0"/>
          </a:p>
          <a:p>
            <a:pPr marL="304793" lvl="0" indent="0" algn="l" rtl="0">
              <a:lnSpc>
                <a:spcPct val="104000"/>
              </a:lnSpc>
              <a:spcBef>
                <a:spcPts val="0"/>
              </a:spcBef>
              <a:spcAft>
                <a:spcPts val="0"/>
              </a:spcAft>
              <a:buSzPts val="1500"/>
            </a:pPr>
            <a:endParaRPr dirty="0"/>
          </a:p>
        </p:txBody>
      </p:sp>
    </p:spTree>
    <p:extLst>
      <p:ext uri="{BB962C8B-B14F-4D97-AF65-F5344CB8AC3E}">
        <p14:creationId xmlns:p14="http://schemas.microsoft.com/office/powerpoint/2010/main" val="379989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Overview</a:t>
            </a:r>
          </a:p>
        </p:txBody>
      </p:sp>
      <p:sp>
        <p:nvSpPr>
          <p:cNvPr id="84" name="Google Shape;84;p3"/>
          <p:cNvSpPr txBox="1">
            <a:spLocks noGrp="1"/>
          </p:cNvSpPr>
          <p:nvPr>
            <p:ph type="body" idx="1"/>
          </p:nvPr>
        </p:nvSpPr>
        <p:spPr>
          <a:xfrm>
            <a:off x="436600" y="1296867"/>
            <a:ext cx="8534680" cy="5305417"/>
          </a:xfrm>
          <a:prstGeom prst="rect">
            <a:avLst/>
          </a:prstGeom>
          <a:noFill/>
          <a:ln>
            <a:noFill/>
          </a:ln>
        </p:spPr>
        <p:txBody>
          <a:bodyPr spcFirstLastPara="1" wrap="square" lIns="68575" tIns="34275" rIns="68575" bIns="34275" anchor="t" anchorCtr="0">
            <a:noAutofit/>
          </a:bodyPr>
          <a:lstStyle/>
          <a:p>
            <a:pPr marL="342900" lvl="0" indent="-342900">
              <a:lnSpc>
                <a:spcPct val="100000"/>
              </a:lnSpc>
              <a:buSzPts val="1400"/>
              <a:buFont typeface="Wingdings" panose="05000000000000000000" pitchFamily="2" charset="2"/>
              <a:buChar char="q"/>
            </a:pPr>
            <a:r>
              <a:rPr lang="en-US" b="1" dirty="0"/>
              <a:t>Advantages of Coding in QML</a:t>
            </a:r>
          </a:p>
          <a:p>
            <a:pPr marL="800100" lvl="1" indent="-342900" algn="just">
              <a:lnSpc>
                <a:spcPct val="100000"/>
              </a:lnSpc>
              <a:buSzPts val="1400"/>
              <a:buFont typeface="Wingdings" panose="05000000000000000000" pitchFamily="2" charset="2"/>
              <a:buChar char="q"/>
            </a:pPr>
            <a:r>
              <a:rPr lang="en-US" dirty="0"/>
              <a:t>Coding with QML + JavaScript is very easy to learn and allows you to reduce the required amount of code a lot.</a:t>
            </a:r>
          </a:p>
          <a:p>
            <a:pPr marL="800100" lvl="1" indent="-342900" algn="just">
              <a:lnSpc>
                <a:spcPct val="100000"/>
              </a:lnSpc>
              <a:buSzPts val="1400"/>
              <a:buFont typeface="Wingdings" panose="05000000000000000000" pitchFamily="2" charset="2"/>
              <a:buChar char="q"/>
            </a:pPr>
            <a:r>
              <a:rPr lang="en-US" dirty="0"/>
              <a:t>Language concepts like states, signals or property bindings are a huge time-saver.</a:t>
            </a:r>
          </a:p>
          <a:p>
            <a:pPr marL="800100" lvl="1" indent="-342900" algn="just">
              <a:lnSpc>
                <a:spcPct val="100000"/>
              </a:lnSpc>
              <a:buSzPts val="1400"/>
              <a:buFont typeface="Wingdings" panose="05000000000000000000" pitchFamily="2" charset="2"/>
              <a:buChar char="q"/>
            </a:pPr>
            <a:r>
              <a:rPr lang="en-US" dirty="0"/>
              <a:t>QML makes adding animations simple. You can animate every property of your QML types with simple Animation components.</a:t>
            </a:r>
          </a:p>
          <a:p>
            <a:pPr marL="800100" lvl="1" indent="-342900" algn="just">
              <a:lnSpc>
                <a:spcPct val="100000"/>
              </a:lnSpc>
              <a:buSzPts val="1400"/>
              <a:buFont typeface="Wingdings" panose="05000000000000000000" pitchFamily="2" charset="2"/>
              <a:buChar char="q"/>
            </a:pPr>
            <a:r>
              <a:rPr lang="en-US" dirty="0"/>
              <a:t>QML is extensible and flexible. For example, you can extend objects with new properties and features in-line. No need to create a new re-usable type for small extensions.</a:t>
            </a:r>
          </a:p>
          <a:p>
            <a:pPr marL="800100" lvl="1" indent="-342900" algn="just">
              <a:lnSpc>
                <a:spcPct val="100000"/>
              </a:lnSpc>
              <a:buSzPts val="1400"/>
              <a:buFont typeface="Wingdings" panose="05000000000000000000" pitchFamily="2" charset="2"/>
              <a:buChar char="q"/>
            </a:pPr>
            <a:r>
              <a:rPr lang="en-US" dirty="0"/>
              <a:t>The QML Rendering Engine offers great performance. The renderer uses C++ Qt and relies on a hardware-accelerated scene graph. This makes it fast enough to power even high-performance games.</a:t>
            </a:r>
          </a:p>
        </p:txBody>
      </p:sp>
      <p:pic>
        <p:nvPicPr>
          <p:cNvPr id="1026" name="Picture 2" descr="Qt Quick and QML - Advanced : Interfacing to C++ | LearnQt">
            <a:extLst>
              <a:ext uri="{FF2B5EF4-FFF2-40B4-BE49-F238E27FC236}">
                <a16:creationId xmlns:a16="http://schemas.microsoft.com/office/drawing/2014/main" id="{FBE53DDF-1B30-4164-B8C2-7CE4382E6E1C}"/>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3555" b="98578" l="10000" r="90000">
                        <a14:foregroundMark x1="47600" y1="11374" x2="42267" y2="8531"/>
                        <a14:foregroundMark x1="55067" y1="4028" x2="51867" y2="3555"/>
                        <a14:foregroundMark x1="51867" y1="85545" x2="57333" y2="80569"/>
                        <a14:foregroundMark x1="58800" y1="73223" x2="44533" y2="74645"/>
                        <a14:foregroundMark x1="60667" y1="68009" x2="37867" y2="66825"/>
                        <a14:foregroundMark x1="32267" y1="56635" x2="28533" y2="68009"/>
                        <a14:foregroundMark x1="28533" y1="68009" x2="35067" y2="73934"/>
                        <a14:foregroundMark x1="35067" y1="73934" x2="38267" y2="85545"/>
                        <a14:foregroundMark x1="38267" y1="85545" x2="43867" y2="93128"/>
                        <a14:foregroundMark x1="43867" y1="93128" x2="50267" y2="96445"/>
                        <a14:foregroundMark x1="50267" y1="96445" x2="57067" y2="94313"/>
                        <a14:foregroundMark x1="57067" y1="94313" x2="62533" y2="87441"/>
                        <a14:foregroundMark x1="62533" y1="87441" x2="66800" y2="61137"/>
                        <a14:foregroundMark x1="66800" y1="61137" x2="57867" y2="51185"/>
                        <a14:foregroundMark x1="57867" y1="51185" x2="54133" y2="50711"/>
                        <a14:foregroundMark x1="36267" y1="74408" x2="58267" y2="70379"/>
                        <a14:foregroundMark x1="58267" y1="70379" x2="63733" y2="64218"/>
                        <a14:foregroundMark x1="42800" y1="86256" x2="60533" y2="78673"/>
                        <a14:foregroundMark x1="60533" y1="78673" x2="60133" y2="78436"/>
                        <a14:foregroundMark x1="40800" y1="79384" x2="51467" y2="69668"/>
                        <a14:foregroundMark x1="48667" y1="98578" x2="50267" y2="98341"/>
                      </a14:backgroundRemoval>
                    </a14:imgEffect>
                  </a14:imgLayer>
                </a14:imgProps>
              </a:ext>
              <a:ext uri="{28A0092B-C50C-407E-A947-70E740481C1C}">
                <a14:useLocalDpi xmlns:a14="http://schemas.microsoft.com/office/drawing/2010/main" val="0"/>
              </a:ext>
            </a:extLst>
          </a:blip>
          <a:srcRect l="20560" r="21128"/>
          <a:stretch/>
        </p:blipFill>
        <p:spPr bwMode="auto">
          <a:xfrm>
            <a:off x="9227244" y="2213292"/>
            <a:ext cx="2519761" cy="2431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554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Overview</a:t>
            </a:r>
          </a:p>
        </p:txBody>
      </p:sp>
      <p:sp>
        <p:nvSpPr>
          <p:cNvPr id="84" name="Google Shape;84;p3"/>
          <p:cNvSpPr txBox="1">
            <a:spLocks noGrp="1"/>
          </p:cNvSpPr>
          <p:nvPr>
            <p:ph type="body" idx="1"/>
          </p:nvPr>
        </p:nvSpPr>
        <p:spPr>
          <a:xfrm>
            <a:off x="436600" y="1296867"/>
            <a:ext cx="8534680" cy="5305417"/>
          </a:xfrm>
          <a:prstGeom prst="rect">
            <a:avLst/>
          </a:prstGeom>
          <a:noFill/>
          <a:ln>
            <a:noFill/>
          </a:ln>
        </p:spPr>
        <p:txBody>
          <a:bodyPr spcFirstLastPara="1" wrap="square" lIns="68575" tIns="34275" rIns="68575" bIns="34275" anchor="t" anchorCtr="0">
            <a:noAutofit/>
          </a:bodyPr>
          <a:lstStyle/>
          <a:p>
            <a:pPr marL="342900" lvl="0" indent="-342900">
              <a:lnSpc>
                <a:spcPct val="100000"/>
              </a:lnSpc>
              <a:buSzPts val="1400"/>
              <a:buFont typeface="Wingdings" panose="05000000000000000000" pitchFamily="2" charset="2"/>
              <a:buChar char="q"/>
            </a:pPr>
            <a:r>
              <a:rPr lang="en-US" b="1" dirty="0"/>
              <a:t>When to use C++ Instead</a:t>
            </a:r>
          </a:p>
          <a:p>
            <a:pPr marL="800100" lvl="1" indent="-342900">
              <a:lnSpc>
                <a:spcPct val="100000"/>
              </a:lnSpc>
              <a:buSzPts val="1400"/>
              <a:buFont typeface="Wingdings" panose="05000000000000000000" pitchFamily="2" charset="2"/>
              <a:buChar char="q"/>
            </a:pPr>
            <a:r>
              <a:rPr lang="en-US" dirty="0"/>
              <a:t>Native C++ code is the right choice for data-intense operations. It will outperform interpreted QML/JavaScript code.</a:t>
            </a:r>
          </a:p>
          <a:p>
            <a:pPr marL="800100" lvl="1" indent="-342900">
              <a:lnSpc>
                <a:spcPct val="100000"/>
              </a:lnSpc>
              <a:buSzPts val="1400"/>
              <a:buFont typeface="Wingdings" panose="05000000000000000000" pitchFamily="2" charset="2"/>
              <a:buChar char="q"/>
            </a:pPr>
            <a:r>
              <a:rPr lang="en-US" dirty="0"/>
              <a:t>C++ code is type-safe and compiled into object code. For parts where stability and security are important, using C++ helps to make your app less error-prone.</a:t>
            </a:r>
          </a:p>
          <a:p>
            <a:pPr marL="800100" lvl="1" indent="-342900">
              <a:lnSpc>
                <a:spcPct val="100000"/>
              </a:lnSpc>
              <a:buSzPts val="1400"/>
              <a:buFont typeface="Wingdings" panose="05000000000000000000" pitchFamily="2" charset="2"/>
              <a:buChar char="q"/>
            </a:pPr>
            <a:r>
              <a:rPr lang="en-US" dirty="0"/>
              <a:t>The Qt C++ components offer different and in some cases more features than the QML types. For example, advanced networking features.</a:t>
            </a:r>
          </a:p>
          <a:p>
            <a:pPr marL="800100" lvl="1" indent="-342900">
              <a:lnSpc>
                <a:spcPct val="100000"/>
              </a:lnSpc>
              <a:buSzPts val="1400"/>
              <a:buFont typeface="Wingdings" panose="05000000000000000000" pitchFamily="2" charset="2"/>
              <a:buChar char="q"/>
            </a:pPr>
            <a:r>
              <a:rPr lang="en-US" dirty="0"/>
              <a:t>It is also possible to mix C++ with native code for Android (over JNI) or iOS (Obj-C or Swift). This allows to provide such native functionality for QML as well.</a:t>
            </a:r>
          </a:p>
        </p:txBody>
      </p:sp>
      <p:pic>
        <p:nvPicPr>
          <p:cNvPr id="1026" name="Picture 2" descr="Qt Quick and QML - Advanced : Interfacing to C++ | LearnQt">
            <a:extLst>
              <a:ext uri="{FF2B5EF4-FFF2-40B4-BE49-F238E27FC236}">
                <a16:creationId xmlns:a16="http://schemas.microsoft.com/office/drawing/2014/main" id="{FBE53DDF-1B30-4164-B8C2-7CE4382E6E1C}"/>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3555" b="98578" l="10000" r="90000">
                        <a14:foregroundMark x1="47600" y1="11374" x2="42267" y2="8531"/>
                        <a14:foregroundMark x1="55067" y1="4028" x2="51867" y2="3555"/>
                        <a14:foregroundMark x1="51867" y1="85545" x2="57333" y2="80569"/>
                        <a14:foregroundMark x1="58800" y1="73223" x2="44533" y2="74645"/>
                        <a14:foregroundMark x1="60667" y1="68009" x2="37867" y2="66825"/>
                        <a14:foregroundMark x1="32267" y1="56635" x2="28533" y2="68009"/>
                        <a14:foregroundMark x1="28533" y1="68009" x2="35067" y2="73934"/>
                        <a14:foregroundMark x1="35067" y1="73934" x2="38267" y2="85545"/>
                        <a14:foregroundMark x1="38267" y1="85545" x2="43867" y2="93128"/>
                        <a14:foregroundMark x1="43867" y1="93128" x2="50267" y2="96445"/>
                        <a14:foregroundMark x1="50267" y1="96445" x2="57067" y2="94313"/>
                        <a14:foregroundMark x1="57067" y1="94313" x2="62533" y2="87441"/>
                        <a14:foregroundMark x1="62533" y1="87441" x2="66800" y2="61137"/>
                        <a14:foregroundMark x1="66800" y1="61137" x2="57867" y2="51185"/>
                        <a14:foregroundMark x1="57867" y1="51185" x2="54133" y2="50711"/>
                        <a14:foregroundMark x1="36267" y1="74408" x2="58267" y2="70379"/>
                        <a14:foregroundMark x1="58267" y1="70379" x2="63733" y2="64218"/>
                        <a14:foregroundMark x1="42800" y1="86256" x2="60533" y2="78673"/>
                        <a14:foregroundMark x1="60533" y1="78673" x2="60133" y2="78436"/>
                        <a14:foregroundMark x1="40800" y1="79384" x2="51467" y2="69668"/>
                        <a14:foregroundMark x1="48667" y1="98578" x2="50267" y2="98341"/>
                      </a14:backgroundRemoval>
                    </a14:imgEffect>
                  </a14:imgLayer>
                </a14:imgProps>
              </a:ext>
              <a:ext uri="{28A0092B-C50C-407E-A947-70E740481C1C}">
                <a14:useLocalDpi xmlns:a14="http://schemas.microsoft.com/office/drawing/2010/main" val="0"/>
              </a:ext>
            </a:extLst>
          </a:blip>
          <a:srcRect l="20560" r="21128"/>
          <a:stretch/>
        </p:blipFill>
        <p:spPr bwMode="auto">
          <a:xfrm>
            <a:off x="9227244" y="2213292"/>
            <a:ext cx="2519761" cy="2431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9087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Access a C++ Object from QML</a:t>
            </a:r>
          </a:p>
        </p:txBody>
      </p:sp>
      <p:sp>
        <p:nvSpPr>
          <p:cNvPr id="84" name="Google Shape;84;p3"/>
          <p:cNvSpPr txBox="1">
            <a:spLocks noGrp="1"/>
          </p:cNvSpPr>
          <p:nvPr>
            <p:ph type="body" idx="1"/>
          </p:nvPr>
        </p:nvSpPr>
        <p:spPr>
          <a:xfrm>
            <a:off x="436600" y="1296867"/>
            <a:ext cx="11310400" cy="5305417"/>
          </a:xfrm>
          <a:prstGeom prst="rect">
            <a:avLst/>
          </a:prstGeom>
          <a:noFill/>
          <a:ln>
            <a:noFill/>
          </a:ln>
        </p:spPr>
        <p:txBody>
          <a:bodyPr spcFirstLastPara="1" wrap="square" lIns="68575" tIns="34275" rIns="68575" bIns="34275" anchor="t" anchorCtr="0">
            <a:noAutofit/>
          </a:bodyPr>
          <a:lstStyle/>
          <a:p>
            <a:pPr marL="342900" lvl="0" indent="-342900">
              <a:lnSpc>
                <a:spcPct val="100000"/>
              </a:lnSpc>
              <a:buSzPts val="1400"/>
              <a:buFont typeface="Wingdings" panose="05000000000000000000" pitchFamily="2" charset="2"/>
              <a:buChar char="q"/>
            </a:pPr>
            <a:r>
              <a:rPr lang="en-US" b="1" dirty="0"/>
              <a:t>Create a C++ Class in your Project</a:t>
            </a:r>
          </a:p>
          <a:p>
            <a:pPr lvl="0" indent="-457200">
              <a:lnSpc>
                <a:spcPct val="100000"/>
              </a:lnSpc>
              <a:buSzPts val="1400"/>
              <a:buAutoNum type="arabicPeriod"/>
            </a:pPr>
            <a:r>
              <a:rPr lang="en-US" dirty="0"/>
              <a:t>Create a new app project</a:t>
            </a:r>
          </a:p>
          <a:p>
            <a:pPr lvl="0" indent="-457200">
              <a:lnSpc>
                <a:spcPct val="100000"/>
              </a:lnSpc>
              <a:buSzPts val="1400"/>
              <a:buAutoNum type="arabicPeriod"/>
            </a:pPr>
            <a:r>
              <a:rPr lang="en-US" dirty="0"/>
              <a:t>Let’s go on by creating a new C++ class. First, right-click the C++ “Sources” folder of your project in Qt Creator, select “Add New…” and choose the “C++ Class” template in the C++ section:</a:t>
            </a:r>
          </a:p>
        </p:txBody>
      </p:sp>
      <p:pic>
        <p:nvPicPr>
          <p:cNvPr id="2050" name="Picture 2" descr="Add a new C++ Class">
            <a:extLst>
              <a:ext uri="{FF2B5EF4-FFF2-40B4-BE49-F238E27FC236}">
                <a16:creationId xmlns:a16="http://schemas.microsoft.com/office/drawing/2014/main" id="{1A35A560-7949-484C-8FA8-B6C97818AD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5577" y="2708599"/>
            <a:ext cx="7300845" cy="4149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9216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Access a C++ Object from QML</a:t>
            </a:r>
          </a:p>
        </p:txBody>
      </p:sp>
      <p:sp>
        <p:nvSpPr>
          <p:cNvPr id="84" name="Google Shape;84;p3"/>
          <p:cNvSpPr txBox="1">
            <a:spLocks noGrp="1"/>
          </p:cNvSpPr>
          <p:nvPr>
            <p:ph type="body" idx="1"/>
          </p:nvPr>
        </p:nvSpPr>
        <p:spPr>
          <a:xfrm>
            <a:off x="436600" y="1296867"/>
            <a:ext cx="11310400" cy="5305417"/>
          </a:xfrm>
          <a:prstGeom prst="rect">
            <a:avLst/>
          </a:prstGeom>
          <a:noFill/>
          <a:ln>
            <a:noFill/>
          </a:ln>
        </p:spPr>
        <p:txBody>
          <a:bodyPr spcFirstLastPara="1" wrap="square" lIns="68575" tIns="34275" rIns="68575" bIns="34275" anchor="t" anchorCtr="0">
            <a:noAutofit/>
          </a:bodyPr>
          <a:lstStyle/>
          <a:p>
            <a:pPr marL="342900" lvl="0" indent="-342900">
              <a:lnSpc>
                <a:spcPct val="100000"/>
              </a:lnSpc>
              <a:buSzPts val="1400"/>
              <a:buFont typeface="Wingdings" panose="05000000000000000000" pitchFamily="2" charset="2"/>
              <a:buChar char="q"/>
            </a:pPr>
            <a:r>
              <a:rPr lang="en-US" b="1" dirty="0"/>
              <a:t>Create a C++ Class in your Project</a:t>
            </a:r>
          </a:p>
          <a:p>
            <a:pPr lvl="0" indent="-457200">
              <a:lnSpc>
                <a:spcPct val="100000"/>
              </a:lnSpc>
              <a:buSzPts val="1400"/>
              <a:buFont typeface="+mj-lt"/>
              <a:buAutoNum type="arabicPeriod" startAt="3"/>
            </a:pPr>
            <a:r>
              <a:rPr lang="en-US" dirty="0"/>
              <a:t>Then set “MyGlobalObject” as Class Name and select “Include </a:t>
            </a:r>
            <a:r>
              <a:rPr lang="en-US" dirty="0" err="1"/>
              <a:t>QObject</a:t>
            </a:r>
            <a:r>
              <a:rPr lang="en-US" dirty="0"/>
              <a:t>” to include the </a:t>
            </a:r>
            <a:r>
              <a:rPr lang="en-US" b="1" dirty="0" err="1"/>
              <a:t>QObject</a:t>
            </a:r>
            <a:r>
              <a:rPr lang="en-US" dirty="0"/>
              <a:t> type, as the main requirement to prepare our class for usage with QML is to derive from </a:t>
            </a:r>
            <a:r>
              <a:rPr lang="en-US" dirty="0" err="1"/>
              <a:t>QObject</a:t>
            </a:r>
            <a:r>
              <a:rPr lang="en-US" dirty="0"/>
              <a:t>.</a:t>
            </a:r>
          </a:p>
        </p:txBody>
      </p:sp>
      <p:pic>
        <p:nvPicPr>
          <p:cNvPr id="4098" name="Picture 2" descr="Derive C++ class from QObject">
            <a:extLst>
              <a:ext uri="{FF2B5EF4-FFF2-40B4-BE49-F238E27FC236}">
                <a16:creationId xmlns:a16="http://schemas.microsoft.com/office/drawing/2014/main" id="{2A0EDD30-16D7-4E2C-B186-3C7E9BB94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8800" y="2148604"/>
            <a:ext cx="6774399" cy="4709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499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Access a C++ Object from QML</a:t>
            </a:r>
          </a:p>
        </p:txBody>
      </p:sp>
      <p:sp>
        <p:nvSpPr>
          <p:cNvPr id="84" name="Google Shape;84;p3"/>
          <p:cNvSpPr txBox="1">
            <a:spLocks noGrp="1"/>
          </p:cNvSpPr>
          <p:nvPr>
            <p:ph type="body" idx="1"/>
          </p:nvPr>
        </p:nvSpPr>
        <p:spPr>
          <a:xfrm>
            <a:off x="436600" y="1296867"/>
            <a:ext cx="11310400" cy="5305417"/>
          </a:xfrm>
          <a:prstGeom prst="rect">
            <a:avLst/>
          </a:prstGeom>
          <a:noFill/>
          <a:ln>
            <a:noFill/>
          </a:ln>
        </p:spPr>
        <p:txBody>
          <a:bodyPr spcFirstLastPara="1" wrap="square" lIns="68575" tIns="34275" rIns="68575" bIns="34275" anchor="t" anchorCtr="0">
            <a:noAutofit/>
          </a:bodyPr>
          <a:lstStyle/>
          <a:p>
            <a:pPr marL="342900" lvl="0" indent="-342900">
              <a:lnSpc>
                <a:spcPct val="100000"/>
              </a:lnSpc>
              <a:buSzPts val="1400"/>
              <a:buFont typeface="Wingdings" panose="05000000000000000000" pitchFamily="2" charset="2"/>
              <a:buChar char="q"/>
            </a:pPr>
            <a:r>
              <a:rPr lang="en-US" b="1" dirty="0"/>
              <a:t>Implement the C++ Class with Signals and Slots for Usage with QML</a:t>
            </a:r>
          </a:p>
          <a:p>
            <a:pPr lvl="0" indent="-457200">
              <a:lnSpc>
                <a:spcPct val="100000"/>
              </a:lnSpc>
              <a:buSzPts val="1400"/>
              <a:buAutoNum type="arabicPeriod"/>
            </a:pPr>
            <a:r>
              <a:rPr lang="en-US" dirty="0"/>
              <a:t>Open </a:t>
            </a:r>
            <a:r>
              <a:rPr lang="en-US" dirty="0" err="1"/>
              <a:t>myglobalobject.h</a:t>
            </a:r>
            <a:r>
              <a:rPr lang="en-US" dirty="0"/>
              <a:t> and add some code to </a:t>
            </a:r>
            <a:r>
              <a:rPr lang="en-US" b="1" dirty="0"/>
              <a:t>derive from </a:t>
            </a:r>
            <a:r>
              <a:rPr lang="en-US" b="1" dirty="0" err="1"/>
              <a:t>QObject</a:t>
            </a:r>
            <a:r>
              <a:rPr lang="en-US" dirty="0"/>
              <a:t> – the required include statement is already in place:</a:t>
            </a:r>
          </a:p>
          <a:p>
            <a:pPr marL="0" lvl="0" indent="0">
              <a:lnSpc>
                <a:spcPct val="100000"/>
              </a:lnSpc>
              <a:buSzPts val="1400"/>
            </a:pPr>
            <a:endParaRPr lang="en-US" b="1" dirty="0"/>
          </a:p>
          <a:p>
            <a:pPr marL="0" lvl="0" indent="0">
              <a:lnSpc>
                <a:spcPct val="100000"/>
              </a:lnSpc>
              <a:buSzPts val="1400"/>
            </a:pPr>
            <a:endParaRPr lang="en-US" b="1" dirty="0"/>
          </a:p>
          <a:p>
            <a:pPr marL="0" lvl="0" indent="0">
              <a:lnSpc>
                <a:spcPct val="100000"/>
              </a:lnSpc>
              <a:buSzPts val="1400"/>
            </a:pPr>
            <a:endParaRPr lang="en-US" b="1" dirty="0"/>
          </a:p>
          <a:p>
            <a:pPr marL="0" lvl="0" indent="0">
              <a:lnSpc>
                <a:spcPct val="100000"/>
              </a:lnSpc>
              <a:buSzPts val="1400"/>
            </a:pPr>
            <a:endParaRPr lang="en-US" b="1" dirty="0"/>
          </a:p>
          <a:p>
            <a:pPr marL="0" lvl="0" indent="0">
              <a:lnSpc>
                <a:spcPct val="100000"/>
              </a:lnSpc>
              <a:buSzPts val="1400"/>
            </a:pPr>
            <a:endParaRPr lang="en-US" b="1" dirty="0"/>
          </a:p>
          <a:p>
            <a:pPr marL="0" lvl="0" indent="0">
              <a:lnSpc>
                <a:spcPct val="100000"/>
              </a:lnSpc>
              <a:buSzPts val="1400"/>
            </a:pPr>
            <a:endParaRPr lang="en-US" b="1" dirty="0"/>
          </a:p>
          <a:p>
            <a:pPr marL="0" lvl="0" indent="0">
              <a:lnSpc>
                <a:spcPct val="100000"/>
              </a:lnSpc>
              <a:buSzPts val="1400"/>
            </a:pPr>
            <a:endParaRPr lang="en-US" b="1" dirty="0"/>
          </a:p>
          <a:p>
            <a:pPr marL="0" lvl="0" indent="0">
              <a:lnSpc>
                <a:spcPct val="100000"/>
              </a:lnSpc>
              <a:buSzPts val="1400"/>
            </a:pPr>
            <a:endParaRPr lang="en-US" b="1" dirty="0"/>
          </a:p>
          <a:p>
            <a:pPr marL="0" lvl="0" indent="0">
              <a:lnSpc>
                <a:spcPct val="100000"/>
              </a:lnSpc>
              <a:buSzPts val="1400"/>
            </a:pPr>
            <a:endParaRPr lang="en-US" b="1" dirty="0"/>
          </a:p>
          <a:p>
            <a:pPr marL="0" lvl="0" indent="0">
              <a:lnSpc>
                <a:spcPct val="100000"/>
              </a:lnSpc>
              <a:buSzPts val="1400"/>
            </a:pPr>
            <a:endParaRPr lang="en-US" b="1" dirty="0"/>
          </a:p>
          <a:p>
            <a:pPr marL="0" lvl="0" indent="0">
              <a:lnSpc>
                <a:spcPct val="100000"/>
              </a:lnSpc>
              <a:buSzPts val="1400"/>
            </a:pPr>
            <a:endParaRPr lang="en-US" b="1" dirty="0"/>
          </a:p>
          <a:p>
            <a:pPr marL="0" lvl="0" indent="0">
              <a:lnSpc>
                <a:spcPct val="100000"/>
              </a:lnSpc>
              <a:buSzPts val="1400"/>
            </a:pPr>
            <a:endParaRPr lang="en-US" b="1" dirty="0"/>
          </a:p>
          <a:p>
            <a:pPr marL="0" lvl="0" indent="0">
              <a:lnSpc>
                <a:spcPct val="100000"/>
              </a:lnSpc>
              <a:buSzPts val="1400"/>
            </a:pPr>
            <a:r>
              <a:rPr lang="en-US" dirty="0"/>
              <a:t>Do not forget to also add the Q_OBJECT preprocessor macro within the class definition.</a:t>
            </a:r>
          </a:p>
        </p:txBody>
      </p:sp>
      <p:sp>
        <p:nvSpPr>
          <p:cNvPr id="3" name="Rectangle 2">
            <a:extLst>
              <a:ext uri="{FF2B5EF4-FFF2-40B4-BE49-F238E27FC236}">
                <a16:creationId xmlns:a16="http://schemas.microsoft.com/office/drawing/2014/main" id="{18D2E415-B959-4E56-8235-02DE5BC60DD4}"/>
              </a:ext>
            </a:extLst>
          </p:cNvPr>
          <p:cNvSpPr>
            <a:spLocks noChangeArrowheads="1"/>
          </p:cNvSpPr>
          <p:nvPr/>
        </p:nvSpPr>
        <p:spPr bwMode="auto">
          <a:xfrm>
            <a:off x="985520" y="2394656"/>
            <a:ext cx="6583680" cy="338554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182880" rIns="91440" bIns="1828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#ifndef MYGLOBALOBJECT_H</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#define MYGLOBALOBJECT_H</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#include </a:t>
            </a:r>
            <a:r>
              <a:rPr kumimoji="0" lang="en-US" altLang="en-US" sz="1400" b="0" i="0" u="none" strike="noStrike" cap="none" normalizeH="0" baseline="0" dirty="0">
                <a:ln>
                  <a:noFill/>
                </a:ln>
                <a:solidFill>
                  <a:srgbClr val="A67F59"/>
                </a:solidFill>
                <a:effectLst/>
                <a:latin typeface="Consolas" panose="020B0609020204030204" pitchFamily="49" charset="0"/>
              </a:rPr>
              <a:t>&lt;</a:t>
            </a:r>
            <a:r>
              <a:rPr kumimoji="0" lang="en-US" altLang="en-US" sz="1400" b="0" i="0" u="none" strike="noStrike" cap="none" normalizeH="0" baseline="0" dirty="0" err="1">
                <a:ln>
                  <a:noFill/>
                </a:ln>
                <a:solidFill>
                  <a:srgbClr val="000000"/>
                </a:solidFill>
                <a:effectLst/>
                <a:latin typeface="Consolas" panose="020B0609020204030204" pitchFamily="49" charset="0"/>
              </a:rPr>
              <a:t>QObject</a:t>
            </a:r>
            <a:r>
              <a:rPr kumimoji="0" lang="en-US" altLang="en-US" sz="1400" b="0" i="0" u="none" strike="noStrike" cap="none" normalizeH="0" baseline="0" dirty="0">
                <a:ln>
                  <a:noFill/>
                </a:ln>
                <a:solidFill>
                  <a:srgbClr val="A67F59"/>
                </a:solidFill>
                <a:effectLst/>
                <a:latin typeface="Consolas" panose="020B0609020204030204" pitchFamily="49" charset="0"/>
              </a:rPr>
              <a:t>&gt;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class </a:t>
            </a:r>
            <a:r>
              <a:rPr kumimoji="0" lang="en-US" altLang="en-US" sz="1400" b="0" i="0" u="none" strike="noStrike" cap="none" normalizeH="0" baseline="0" dirty="0">
                <a:ln>
                  <a:noFill/>
                </a:ln>
                <a:solidFill>
                  <a:srgbClr val="990055"/>
                </a:solidFill>
                <a:effectLst/>
                <a:latin typeface="Consolas" panose="020B0609020204030204" pitchFamily="49" charset="0"/>
              </a:rPr>
              <a:t>MyGlobalObject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669900"/>
                </a:solidFill>
                <a:effectLst/>
                <a:latin typeface="Consolas" panose="020B0609020204030204" pitchFamily="49" charset="0"/>
              </a:rPr>
              <a:t>public </a:t>
            </a:r>
            <a:r>
              <a:rPr kumimoji="0" lang="en-US" altLang="en-US" sz="1400" b="0" i="0" u="none" strike="noStrike" cap="none" normalizeH="0" baseline="0" dirty="0" err="1">
                <a:ln>
                  <a:noFill/>
                </a:ln>
                <a:solidFill>
                  <a:srgbClr val="669900"/>
                </a:solidFill>
                <a:effectLst/>
                <a:latin typeface="Consolas" panose="020B0609020204030204" pitchFamily="49" charset="0"/>
              </a:rPr>
              <a:t>QObject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Q_OBJECT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0055"/>
                </a:solidFill>
                <a:effectLst/>
                <a:latin typeface="Consolas" panose="020B0609020204030204" pitchFamily="49" charset="0"/>
              </a:rPr>
              <a:t>public</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MyGlobalObject()</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#endif </a:t>
            </a:r>
            <a:r>
              <a:rPr kumimoji="0" lang="en-US" altLang="en-US" sz="1400" b="0" i="0" u="none" strike="noStrike" cap="none" normalizeH="0" baseline="0" dirty="0">
                <a:ln>
                  <a:noFill/>
                </a:ln>
                <a:solidFill>
                  <a:srgbClr val="708090"/>
                </a:solidFill>
                <a:effectLst/>
                <a:latin typeface="Consolas" panose="020B0609020204030204" pitchFamily="49" charset="0"/>
              </a:rPr>
              <a:t>// MYGLOBALOBJECT_H</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8551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Access a C++ Object from QML</a:t>
            </a:r>
          </a:p>
        </p:txBody>
      </p:sp>
      <p:sp>
        <p:nvSpPr>
          <p:cNvPr id="84" name="Google Shape;84;p3"/>
          <p:cNvSpPr txBox="1">
            <a:spLocks noGrp="1"/>
          </p:cNvSpPr>
          <p:nvPr>
            <p:ph type="body" idx="1"/>
          </p:nvPr>
        </p:nvSpPr>
        <p:spPr>
          <a:xfrm>
            <a:off x="436600" y="1296867"/>
            <a:ext cx="11310400" cy="5305417"/>
          </a:xfrm>
          <a:prstGeom prst="rect">
            <a:avLst/>
          </a:prstGeom>
          <a:noFill/>
          <a:ln>
            <a:noFill/>
          </a:ln>
        </p:spPr>
        <p:txBody>
          <a:bodyPr spcFirstLastPara="1" wrap="square" lIns="68575" tIns="34275" rIns="68575" bIns="34275" anchor="t" anchorCtr="0">
            <a:noAutofit/>
          </a:bodyPr>
          <a:lstStyle/>
          <a:p>
            <a:pPr marL="342900" lvl="0" indent="-342900">
              <a:lnSpc>
                <a:spcPct val="100000"/>
              </a:lnSpc>
              <a:buSzPts val="1400"/>
              <a:buFont typeface="Wingdings" panose="05000000000000000000" pitchFamily="2" charset="2"/>
              <a:buChar char="q"/>
            </a:pPr>
            <a:r>
              <a:rPr lang="en-US" b="1" dirty="0"/>
              <a:t>Implement the C++ Class with Signals and Slots for Usage with QML</a:t>
            </a:r>
          </a:p>
          <a:p>
            <a:pPr lvl="0" indent="-457200">
              <a:lnSpc>
                <a:spcPct val="100000"/>
              </a:lnSpc>
              <a:buSzPts val="1400"/>
              <a:buFont typeface="+mj-lt"/>
              <a:buAutoNum type="arabicPeriod" startAt="2"/>
            </a:pPr>
            <a:r>
              <a:rPr lang="en-US" dirty="0"/>
              <a:t>Now that we have a new </a:t>
            </a:r>
            <a:r>
              <a:rPr lang="en-US" dirty="0" err="1"/>
              <a:t>QObject</a:t>
            </a:r>
            <a:r>
              <a:rPr lang="en-US" dirty="0"/>
              <a:t>, let’s add a simple method we will later call from QML. To make the method available in QML, it is required to mark it as a </a:t>
            </a:r>
            <a:r>
              <a:rPr lang="en-US" b="1" dirty="0"/>
              <a:t>public slot</a:t>
            </a:r>
            <a:r>
              <a:rPr lang="en-US" dirty="0"/>
              <a:t>:</a:t>
            </a:r>
            <a:endParaRPr lang="en-US" b="1" dirty="0"/>
          </a:p>
        </p:txBody>
      </p:sp>
      <p:sp>
        <p:nvSpPr>
          <p:cNvPr id="5" name="Rectangle 3">
            <a:extLst>
              <a:ext uri="{FF2B5EF4-FFF2-40B4-BE49-F238E27FC236}">
                <a16:creationId xmlns:a16="http://schemas.microsoft.com/office/drawing/2014/main" id="{DAE2234C-91E5-4494-9838-E06116A0AB01}"/>
              </a:ext>
            </a:extLst>
          </p:cNvPr>
          <p:cNvSpPr>
            <a:spLocks noChangeArrowheads="1"/>
          </p:cNvSpPr>
          <p:nvPr/>
        </p:nvSpPr>
        <p:spPr bwMode="auto">
          <a:xfrm>
            <a:off x="983957" y="2500122"/>
            <a:ext cx="6583680" cy="2523768"/>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182880" rIns="91440" bIns="1828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class </a:t>
            </a:r>
            <a:r>
              <a:rPr kumimoji="0" lang="en-US" altLang="en-US" sz="1400" b="0" i="0" u="none" strike="noStrike" cap="none" normalizeH="0" baseline="0" dirty="0">
                <a:ln>
                  <a:noFill/>
                </a:ln>
                <a:solidFill>
                  <a:srgbClr val="990055"/>
                </a:solidFill>
                <a:effectLst/>
                <a:latin typeface="Consolas" panose="020B0609020204030204" pitchFamily="49" charset="0"/>
              </a:rPr>
              <a:t>MyGlobalObject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669900"/>
                </a:solidFill>
                <a:effectLst/>
                <a:latin typeface="Consolas" panose="020B0609020204030204" pitchFamily="49" charset="0"/>
              </a:rPr>
              <a:t>public </a:t>
            </a:r>
            <a:r>
              <a:rPr kumimoji="0" lang="en-US" altLang="en-US" sz="1400" b="0" i="0" u="none" strike="noStrike" cap="none" normalizeH="0" baseline="0" dirty="0" err="1">
                <a:ln>
                  <a:noFill/>
                </a:ln>
                <a:solidFill>
                  <a:srgbClr val="669900"/>
                </a:solidFill>
                <a:effectLst/>
                <a:latin typeface="Consolas" panose="020B0609020204030204" pitchFamily="49" charset="0"/>
              </a:rPr>
              <a:t>QObject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Q_OBJECT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0055"/>
                </a:solidFill>
                <a:effectLst/>
                <a:latin typeface="Consolas" panose="020B0609020204030204" pitchFamily="49" charset="0"/>
              </a:rPr>
              <a:t>public</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MyGlobalObject()</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public </a:t>
            </a:r>
            <a:r>
              <a:rPr kumimoji="0" lang="en-US" altLang="en-US" sz="1400" b="0" i="0" u="none" strike="noStrike" cap="none" normalizeH="0" baseline="0" dirty="0">
                <a:ln>
                  <a:noFill/>
                </a:ln>
                <a:solidFill>
                  <a:srgbClr val="990055"/>
                </a:solidFill>
                <a:effectLst/>
                <a:latin typeface="Consolas" panose="020B0609020204030204" pitchFamily="49" charset="0"/>
              </a:rPr>
              <a:t>slots</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708090"/>
                </a:solidFill>
                <a:effectLst/>
                <a:latin typeface="Consolas" panose="020B0609020204030204" pitchFamily="49" charset="0"/>
              </a:rPr>
              <a:t>// slots are public methods available in QML</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void </a:t>
            </a:r>
            <a:r>
              <a:rPr kumimoji="0" lang="en-US" altLang="en-US" sz="1400" b="0" i="0" u="none" strike="noStrike" cap="none" normalizeH="0" baseline="0" dirty="0" err="1">
                <a:ln>
                  <a:noFill/>
                </a:ln>
                <a:solidFill>
                  <a:srgbClr val="000000"/>
                </a:solidFill>
                <a:effectLst/>
                <a:latin typeface="Consolas" panose="020B0609020204030204" pitchFamily="49" charset="0"/>
              </a:rPr>
              <a:t>doSomething</a:t>
            </a:r>
            <a:r>
              <a:rPr kumimoji="0" lang="en-US" altLang="en-US" sz="1400" b="0" i="0" u="none" strike="noStrike" cap="none" normalizeH="0" baseline="0" dirty="0">
                <a:ln>
                  <a:noFill/>
                </a:ln>
                <a:solidFill>
                  <a:srgbClr val="000000"/>
                </a:solidFill>
                <a:effectLst/>
                <a:latin typeface="Consolas" panose="020B0609020204030204" pitchFamily="49" charset="0"/>
              </a:rPr>
              <a:t>(const </a:t>
            </a:r>
            <a:r>
              <a:rPr kumimoji="0" lang="en-US" altLang="en-US" sz="1400" b="0" i="0" u="none" strike="noStrike" cap="none" normalizeH="0" baseline="0" dirty="0" err="1">
                <a:ln>
                  <a:noFill/>
                </a:ln>
                <a:solidFill>
                  <a:srgbClr val="000000"/>
                </a:solidFill>
                <a:effectLst/>
                <a:latin typeface="Consolas" panose="020B0609020204030204" pitchFamily="49" charset="0"/>
              </a:rPr>
              <a:t>QString</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&amp;</a:t>
            </a:r>
            <a:r>
              <a:rPr kumimoji="0" lang="en-US" altLang="en-US" sz="1400" b="0" i="0" u="none" strike="noStrike" cap="none" normalizeH="0" baseline="0" dirty="0">
                <a:ln>
                  <a:noFill/>
                </a:ln>
                <a:solidFill>
                  <a:srgbClr val="000000"/>
                </a:solidFill>
                <a:effectLst/>
                <a:latin typeface="Consolas" panose="020B0609020204030204" pitchFamily="49" charset="0"/>
              </a:rPr>
              <a:t>text)</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52258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Access a C++ Object from QML</a:t>
            </a:r>
          </a:p>
        </p:txBody>
      </p:sp>
      <p:sp>
        <p:nvSpPr>
          <p:cNvPr id="84" name="Google Shape;84;p3"/>
          <p:cNvSpPr txBox="1">
            <a:spLocks noGrp="1"/>
          </p:cNvSpPr>
          <p:nvPr>
            <p:ph type="body" idx="1"/>
          </p:nvPr>
        </p:nvSpPr>
        <p:spPr>
          <a:xfrm>
            <a:off x="436600" y="1296867"/>
            <a:ext cx="11310400" cy="5305417"/>
          </a:xfrm>
          <a:prstGeom prst="rect">
            <a:avLst/>
          </a:prstGeom>
          <a:noFill/>
          <a:ln>
            <a:noFill/>
          </a:ln>
        </p:spPr>
        <p:txBody>
          <a:bodyPr spcFirstLastPara="1" wrap="square" lIns="68575" tIns="34275" rIns="68575" bIns="34275" anchor="t" anchorCtr="0">
            <a:noAutofit/>
          </a:bodyPr>
          <a:lstStyle/>
          <a:p>
            <a:pPr marL="342900" lvl="0" indent="-342900">
              <a:lnSpc>
                <a:spcPct val="100000"/>
              </a:lnSpc>
              <a:buSzPts val="1400"/>
              <a:buFont typeface="Wingdings" panose="05000000000000000000" pitchFamily="2" charset="2"/>
              <a:buChar char="q"/>
            </a:pPr>
            <a:r>
              <a:rPr lang="en-US" b="1" dirty="0"/>
              <a:t>Implement the C++ Class with Signals and Slots for Usage with QML</a:t>
            </a:r>
          </a:p>
          <a:p>
            <a:pPr lvl="0" indent="-457200">
              <a:lnSpc>
                <a:spcPct val="100000"/>
              </a:lnSpc>
              <a:buSzPts val="1400"/>
              <a:buFont typeface="+mj-lt"/>
              <a:buAutoNum type="arabicPeriod" startAt="3"/>
            </a:pPr>
            <a:r>
              <a:rPr lang="en-US" dirty="0"/>
              <a:t>To complete our basic class, open myglobalobject.cpp and add the method implementation for </a:t>
            </a:r>
            <a:r>
              <a:rPr lang="en-US" dirty="0" err="1"/>
              <a:t>doSomething</a:t>
            </a:r>
            <a:r>
              <a:rPr lang="en-US" dirty="0"/>
              <a:t>(). We keep it simple and only print the given text to the debug output.</a:t>
            </a:r>
            <a:endParaRPr lang="en-US" b="1" dirty="0"/>
          </a:p>
        </p:txBody>
      </p:sp>
      <p:sp>
        <p:nvSpPr>
          <p:cNvPr id="2" name="Rectangle 1">
            <a:extLst>
              <a:ext uri="{FF2B5EF4-FFF2-40B4-BE49-F238E27FC236}">
                <a16:creationId xmlns:a16="http://schemas.microsoft.com/office/drawing/2014/main" id="{05C0B8C6-7221-426B-92AD-1341BBE7225B}"/>
              </a:ext>
            </a:extLst>
          </p:cNvPr>
          <p:cNvSpPr>
            <a:spLocks noChangeArrowheads="1"/>
          </p:cNvSpPr>
          <p:nvPr/>
        </p:nvSpPr>
        <p:spPr bwMode="auto">
          <a:xfrm>
            <a:off x="983957" y="2528319"/>
            <a:ext cx="6583680" cy="2739211"/>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182880" rIns="91440" bIns="1828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#include </a:t>
            </a:r>
            <a:r>
              <a:rPr kumimoji="0" lang="en-US" altLang="en-US" sz="1400" b="0" i="0" u="none" strike="noStrike" cap="none" normalizeH="0" baseline="0" dirty="0">
                <a:ln>
                  <a:noFill/>
                </a:ln>
                <a:solidFill>
                  <a:srgbClr val="669900"/>
                </a:solidFill>
                <a:effectLst/>
                <a:latin typeface="Consolas" panose="020B0609020204030204" pitchFamily="49" charset="0"/>
              </a:rPr>
              <a:t>"</a:t>
            </a:r>
            <a:r>
              <a:rPr kumimoji="0" lang="en-US" altLang="en-US" sz="1400" b="0" i="0" u="none" strike="noStrike" cap="none" normalizeH="0" baseline="0" dirty="0" err="1">
                <a:ln>
                  <a:noFill/>
                </a:ln>
                <a:solidFill>
                  <a:srgbClr val="669900"/>
                </a:solidFill>
                <a:effectLst/>
                <a:latin typeface="Consolas" panose="020B0609020204030204" pitchFamily="49" charset="0"/>
              </a:rPr>
              <a:t>myglobalobject.h</a:t>
            </a:r>
            <a:r>
              <a:rPr kumimoji="0" lang="en-US" altLang="en-US" sz="1400" b="0" i="0" u="none" strike="noStrike" cap="none" normalizeH="0" baseline="0" dirty="0">
                <a:ln>
                  <a:noFill/>
                </a:ln>
                <a:solidFill>
                  <a:srgbClr val="6699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#include </a:t>
            </a:r>
            <a:r>
              <a:rPr kumimoji="0" lang="en-US" altLang="en-US" sz="1400" b="0" i="0" u="none" strike="noStrike" cap="none" normalizeH="0" baseline="0" dirty="0">
                <a:ln>
                  <a:noFill/>
                </a:ln>
                <a:solidFill>
                  <a:srgbClr val="A67F59"/>
                </a:solidFill>
                <a:effectLst/>
                <a:latin typeface="Consolas" panose="020B0609020204030204" pitchFamily="49" charset="0"/>
              </a:rPr>
              <a:t>&lt;</a:t>
            </a:r>
            <a:r>
              <a:rPr kumimoji="0" lang="en-US" altLang="en-US" sz="1400" b="0" i="0" u="none" strike="noStrike" cap="none" normalizeH="0" baseline="0" dirty="0" err="1">
                <a:ln>
                  <a:noFill/>
                </a:ln>
                <a:solidFill>
                  <a:srgbClr val="000000"/>
                </a:solidFill>
                <a:effectLst/>
                <a:latin typeface="Consolas" panose="020B0609020204030204" pitchFamily="49" charset="0"/>
              </a:rPr>
              <a:t>QDebug</a:t>
            </a:r>
            <a:r>
              <a:rPr kumimoji="0" lang="en-US" altLang="en-US" sz="1400" b="0" i="0" u="none" strike="noStrike" cap="none" normalizeH="0" baseline="0" dirty="0">
                <a:ln>
                  <a:noFill/>
                </a:ln>
                <a:solidFill>
                  <a:srgbClr val="A67F59"/>
                </a:solidFill>
                <a:effectLst/>
                <a:latin typeface="Consolas" panose="020B0609020204030204" pitchFamily="49" charset="0"/>
              </a:rPr>
              <a:t>&gt;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0055"/>
                </a:solidFill>
                <a:effectLst/>
                <a:latin typeface="Consolas" panose="020B0609020204030204" pitchFamily="49" charset="0"/>
              </a:rPr>
              <a:t>MyGlobalObject</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MyGlobalObject(</a:t>
            </a:r>
            <a:r>
              <a:rPr kumimoji="0" lang="en-US" altLang="en-US" sz="1400" b="0" i="0" u="none" strike="noStrike" cap="none" normalizeH="0" baseline="0" dirty="0">
                <a:ln>
                  <a:noFill/>
                </a:ln>
                <a:solidFill>
                  <a:srgbClr val="6699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perform custom initialization steps here</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void </a:t>
            </a:r>
            <a:r>
              <a:rPr kumimoji="0" lang="en-US" altLang="en-US" sz="1400" b="0" i="0" u="none" strike="noStrike" cap="none" normalizeH="0" baseline="0" dirty="0">
                <a:ln>
                  <a:noFill/>
                </a:ln>
                <a:solidFill>
                  <a:srgbClr val="990055"/>
                </a:solidFill>
                <a:effectLst/>
                <a:latin typeface="Consolas" panose="020B0609020204030204" pitchFamily="49" charset="0"/>
              </a:rPr>
              <a:t>MyGlobalObject</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doSomething</a:t>
            </a:r>
            <a:r>
              <a:rPr kumimoji="0" lang="en-US" altLang="en-US" sz="1400" b="0" i="0" u="none" strike="noStrike" cap="none" normalizeH="0" baseline="0" dirty="0">
                <a:ln>
                  <a:noFill/>
                </a:ln>
                <a:solidFill>
                  <a:srgbClr val="000000"/>
                </a:solidFill>
                <a:effectLst/>
                <a:latin typeface="Consolas" panose="020B0609020204030204" pitchFamily="49" charset="0"/>
              </a:rPr>
              <a:t>(const </a:t>
            </a:r>
            <a:r>
              <a:rPr kumimoji="0" lang="en-US" altLang="en-US" sz="1400" b="0" i="0" u="none" strike="noStrike" cap="none" normalizeH="0" baseline="0" dirty="0" err="1">
                <a:ln>
                  <a:noFill/>
                </a:ln>
                <a:solidFill>
                  <a:srgbClr val="000000"/>
                </a:solidFill>
                <a:effectLst/>
                <a:latin typeface="Consolas" panose="020B0609020204030204" pitchFamily="49" charset="0"/>
              </a:rPr>
              <a:t>QString</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&amp;</a:t>
            </a:r>
            <a:r>
              <a:rPr kumimoji="0" lang="en-US" altLang="en-US" sz="1400" b="0" i="0" u="none" strike="noStrike" cap="none" normalizeH="0" baseline="0" dirty="0">
                <a:ln>
                  <a:noFill/>
                </a:ln>
                <a:solidFill>
                  <a:srgbClr val="000000"/>
                </a:solidFill>
                <a:effectLst/>
                <a:latin typeface="Consolas" panose="020B0609020204030204" pitchFamily="49" charset="0"/>
              </a:rPr>
              <a:t>text</a:t>
            </a:r>
            <a:r>
              <a:rPr kumimoji="0" lang="en-US" altLang="en-US" sz="1400" b="0" i="0" u="none" strike="noStrike" cap="none" normalizeH="0" baseline="0" dirty="0">
                <a:ln>
                  <a:noFill/>
                </a:ln>
                <a:solidFill>
                  <a:srgbClr val="6699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err="1">
                <a:ln>
                  <a:noFill/>
                </a:ln>
                <a:solidFill>
                  <a:srgbClr val="000000"/>
                </a:solidFill>
                <a:effectLst/>
                <a:latin typeface="Consolas" panose="020B0609020204030204" pitchFamily="49" charset="0"/>
              </a:rPr>
              <a:t>qDebug</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&lt;&lt;</a:t>
            </a:r>
            <a:r>
              <a:rPr kumimoji="0" lang="en-US" altLang="en-US" sz="1400" b="0" i="0" u="none" strike="noStrike" cap="none" normalizeH="0" baseline="0" dirty="0">
                <a:ln>
                  <a:noFill/>
                </a:ln>
                <a:solidFill>
                  <a:srgbClr val="000000"/>
                </a:solidFill>
                <a:effectLst/>
                <a:latin typeface="Consolas" panose="020B0609020204030204" pitchFamily="49" charset="0"/>
              </a:rPr>
              <a:t> "MyGlobalObject </a:t>
            </a:r>
            <a:r>
              <a:rPr kumimoji="0" lang="en-US" altLang="en-US" sz="1400" b="0" i="0" u="none" strike="noStrike" cap="none" normalizeH="0" baseline="0" dirty="0" err="1">
                <a:ln>
                  <a:noFill/>
                </a:ln>
                <a:solidFill>
                  <a:srgbClr val="000000"/>
                </a:solidFill>
                <a:effectLst/>
                <a:latin typeface="Consolas" panose="020B0609020204030204" pitchFamily="49" charset="0"/>
              </a:rPr>
              <a:t>doSomething</a:t>
            </a:r>
            <a:r>
              <a:rPr kumimoji="0" lang="en-US" altLang="en-US" sz="1400" b="0" i="0" u="none" strike="noStrike" cap="none" normalizeH="0" baseline="0" dirty="0">
                <a:ln>
                  <a:noFill/>
                </a:ln>
                <a:solidFill>
                  <a:srgbClr val="000000"/>
                </a:solidFill>
                <a:effectLst/>
                <a:latin typeface="Consolas" panose="020B0609020204030204" pitchFamily="49" charset="0"/>
              </a:rPr>
              <a:t> called </a:t>
            </a:r>
            <a:r>
              <a:rPr kumimoji="0" lang="en-US" altLang="en-US" sz="1400" b="0" i="0" u="none" strike="noStrike" cap="none" normalizeH="0" baseline="0" dirty="0">
                <a:ln>
                  <a:noFill/>
                </a:ln>
                <a:solidFill>
                  <a:srgbClr val="0077AA"/>
                </a:solidFill>
                <a:effectLst/>
                <a:latin typeface="Consolas" panose="020B0609020204030204" pitchFamily="49" charset="0"/>
              </a:rPr>
              <a:t>with</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&lt;&lt;</a:t>
            </a:r>
            <a:r>
              <a:rPr kumimoji="0" lang="en-US" altLang="en-US" sz="1400" b="0" i="0" u="none" strike="noStrike" cap="none" normalizeH="0" baseline="0" dirty="0">
                <a:ln>
                  <a:noFill/>
                </a:ln>
                <a:solidFill>
                  <a:srgbClr val="000000"/>
                </a:solidFill>
                <a:effectLst/>
                <a:latin typeface="Consolas" panose="020B0609020204030204" pitchFamily="49" charset="0"/>
              </a:rPr>
              <a:t> text</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5872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Access a C++ Object from QML</a:t>
            </a:r>
          </a:p>
        </p:txBody>
      </p:sp>
      <p:sp>
        <p:nvSpPr>
          <p:cNvPr id="84" name="Google Shape;84;p3"/>
          <p:cNvSpPr txBox="1">
            <a:spLocks noGrp="1"/>
          </p:cNvSpPr>
          <p:nvPr>
            <p:ph type="body" idx="1"/>
          </p:nvPr>
        </p:nvSpPr>
        <p:spPr>
          <a:xfrm>
            <a:off x="436600" y="1296867"/>
            <a:ext cx="11310400" cy="5305417"/>
          </a:xfrm>
          <a:prstGeom prst="rect">
            <a:avLst/>
          </a:prstGeom>
          <a:noFill/>
          <a:ln>
            <a:noFill/>
          </a:ln>
        </p:spPr>
        <p:txBody>
          <a:bodyPr spcFirstLastPara="1" wrap="square" lIns="68575" tIns="34275" rIns="68575" bIns="34275" anchor="t" anchorCtr="0">
            <a:noAutofit/>
          </a:bodyPr>
          <a:lstStyle/>
          <a:p>
            <a:pPr marL="342900" lvl="0" indent="-342900" algn="just">
              <a:lnSpc>
                <a:spcPct val="100000"/>
              </a:lnSpc>
              <a:buSzPts val="1400"/>
              <a:buFont typeface="Wingdings" panose="05000000000000000000" pitchFamily="2" charset="2"/>
              <a:buChar char="q"/>
            </a:pPr>
            <a:r>
              <a:rPr lang="en-US" b="1" dirty="0"/>
              <a:t>Expose an Object to QML as a Context Property</a:t>
            </a:r>
            <a:endParaRPr lang="en-US" dirty="0"/>
          </a:p>
        </p:txBody>
      </p:sp>
      <p:sp>
        <p:nvSpPr>
          <p:cNvPr id="3" name="Rectangle 1">
            <a:extLst>
              <a:ext uri="{FF2B5EF4-FFF2-40B4-BE49-F238E27FC236}">
                <a16:creationId xmlns:a16="http://schemas.microsoft.com/office/drawing/2014/main" id="{2B7D9C09-34BD-4D3D-BB9D-8AECDD90CA86}"/>
              </a:ext>
            </a:extLst>
          </p:cNvPr>
          <p:cNvSpPr>
            <a:spLocks noChangeArrowheads="1"/>
          </p:cNvSpPr>
          <p:nvPr/>
        </p:nvSpPr>
        <p:spPr bwMode="auto">
          <a:xfrm>
            <a:off x="5591908" y="1904856"/>
            <a:ext cx="6155092" cy="3693319"/>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182880" rIns="91440" bIns="1828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708090"/>
                </a:solidFill>
                <a:effectLst/>
                <a:latin typeface="Consolas" panose="020B0609020204030204" pitchFamily="49" charset="0"/>
              </a:rPr>
              <a:t>// keep existing includes here</a:t>
            </a:r>
            <a:br>
              <a:rPr kumimoji="0" lang="en-US" altLang="en-US" sz="1200" b="0" i="0" u="none" strike="noStrike" cap="none" normalizeH="0" baseline="0" dirty="0">
                <a:ln>
                  <a:noFill/>
                </a:ln>
                <a:solidFill>
                  <a:srgbClr val="708090"/>
                </a:solidFill>
                <a:effectLst/>
                <a:latin typeface="Consolas" panose="020B0609020204030204" pitchFamily="49" charset="0"/>
              </a:rPr>
            </a:br>
            <a:r>
              <a:rPr kumimoji="0" lang="en-US" altLang="en-US" sz="1200" b="0" i="0" u="none" strike="noStrike" cap="none" normalizeH="0" baseline="0" dirty="0">
                <a:ln>
                  <a:noFill/>
                </a:ln>
                <a:solidFill>
                  <a:srgbClr val="708090"/>
                </a:solidFill>
                <a:effectLst/>
                <a:latin typeface="Consolas" panose="020B0609020204030204" pitchFamily="49" charset="0"/>
              </a:rPr>
              <a:t>// include </a:t>
            </a:r>
            <a:r>
              <a:rPr kumimoji="0" lang="en-US" altLang="en-US" sz="1200" b="0" i="0" u="none" strike="noStrike" cap="none" normalizeH="0" baseline="0" dirty="0" err="1">
                <a:ln>
                  <a:noFill/>
                </a:ln>
                <a:solidFill>
                  <a:srgbClr val="708090"/>
                </a:solidFill>
                <a:effectLst/>
                <a:latin typeface="Consolas" panose="020B0609020204030204" pitchFamily="49" charset="0"/>
              </a:rPr>
              <a:t>qml</a:t>
            </a:r>
            <a:r>
              <a:rPr kumimoji="0" lang="en-US" altLang="en-US" sz="1200" b="0" i="0" u="none" strike="noStrike" cap="none" normalizeH="0" baseline="0" dirty="0">
                <a:ln>
                  <a:noFill/>
                </a:ln>
                <a:solidFill>
                  <a:srgbClr val="708090"/>
                </a:solidFill>
                <a:effectLst/>
                <a:latin typeface="Consolas" panose="020B0609020204030204" pitchFamily="49" charset="0"/>
              </a:rPr>
              <a:t> context, required to add a context property</a:t>
            </a:r>
            <a:br>
              <a:rPr kumimoji="0" lang="en-US" altLang="en-US" sz="1200" b="0" i="0" u="none" strike="noStrike" cap="none" normalizeH="0" baseline="0" dirty="0">
                <a:ln>
                  <a:noFill/>
                </a:ln>
                <a:solidFill>
                  <a:srgbClr val="70809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#include </a:t>
            </a:r>
            <a:r>
              <a:rPr kumimoji="0" lang="en-US" altLang="en-US" sz="1200" b="0" i="0" u="none" strike="noStrike" cap="none" normalizeH="0" baseline="0" dirty="0">
                <a:ln>
                  <a:noFill/>
                </a:ln>
                <a:solidFill>
                  <a:srgbClr val="A67F59"/>
                </a:solidFill>
                <a:effectLst/>
                <a:latin typeface="Consolas" panose="020B0609020204030204" pitchFamily="49" charset="0"/>
              </a:rPr>
              <a:t>&lt;</a:t>
            </a:r>
            <a:r>
              <a:rPr kumimoji="0" lang="en-US" altLang="en-US" sz="1200" b="0" i="0" u="none" strike="noStrike" cap="none" normalizeH="0" baseline="0" dirty="0" err="1">
                <a:ln>
                  <a:noFill/>
                </a:ln>
                <a:solidFill>
                  <a:srgbClr val="000000"/>
                </a:solidFill>
                <a:effectLst/>
                <a:latin typeface="Consolas" panose="020B0609020204030204" pitchFamily="49" charset="0"/>
              </a:rPr>
              <a:t>QQmlContext</a:t>
            </a:r>
            <a:r>
              <a:rPr kumimoji="0" lang="en-US" altLang="en-US" sz="1200" b="0" i="0" u="none" strike="noStrike" cap="none" normalizeH="0" baseline="0" dirty="0">
                <a:ln>
                  <a:noFill/>
                </a:ln>
                <a:solidFill>
                  <a:srgbClr val="A67F59"/>
                </a:solidFill>
                <a:effectLst/>
                <a:latin typeface="Consolas" panose="020B0609020204030204" pitchFamily="49" charset="0"/>
              </a:rPr>
              <a:t>&gt;</a:t>
            </a:r>
            <a:br>
              <a:rPr kumimoji="0" lang="en-US" altLang="en-US" sz="1200" b="0" i="0" u="none" strike="noStrike" cap="none" normalizeH="0" baseline="0" dirty="0">
                <a:ln>
                  <a:noFill/>
                </a:ln>
                <a:solidFill>
                  <a:srgbClr val="000000"/>
                </a:solidFill>
                <a:effectLst/>
                <a:latin typeface="Consolas" panose="020B0609020204030204" pitchFamily="49" charset="0"/>
              </a:rPr>
            </a:br>
            <a:br>
              <a:rPr kumimoji="0" lang="en-US" altLang="en-US" sz="1200" b="0" i="0" u="none" strike="noStrike" cap="none" normalizeH="0" baseline="0" dirty="0">
                <a:ln>
                  <a:noFill/>
                </a:ln>
                <a:solidFill>
                  <a:srgbClr val="708090"/>
                </a:solidFill>
                <a:effectLst/>
                <a:latin typeface="Consolas" panose="020B0609020204030204" pitchFamily="49" charset="0"/>
              </a:rPr>
            </a:br>
            <a:r>
              <a:rPr kumimoji="0" lang="en-US" altLang="en-US" sz="1200" b="0" i="0" u="none" strike="noStrike" cap="none" normalizeH="0" baseline="0" dirty="0">
                <a:ln>
                  <a:noFill/>
                </a:ln>
                <a:solidFill>
                  <a:srgbClr val="708090"/>
                </a:solidFill>
                <a:effectLst/>
                <a:latin typeface="Consolas" panose="020B0609020204030204" pitchFamily="49" charset="0"/>
              </a:rPr>
              <a:t>// include custom class</a:t>
            </a:r>
            <a:br>
              <a:rPr kumimoji="0" lang="en-US" altLang="en-US" sz="1200" b="0" i="0" u="none" strike="noStrike" cap="none" normalizeH="0" baseline="0" dirty="0">
                <a:ln>
                  <a:noFill/>
                </a:ln>
                <a:solidFill>
                  <a:srgbClr val="70809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#include </a:t>
            </a:r>
            <a:r>
              <a:rPr kumimoji="0" lang="en-US" altLang="en-US" sz="1200" b="0" i="0" u="none" strike="noStrike" cap="none" normalizeH="0" baseline="0" dirty="0">
                <a:ln>
                  <a:noFill/>
                </a:ln>
                <a:solidFill>
                  <a:srgbClr val="669900"/>
                </a:solidFill>
                <a:effectLst/>
                <a:latin typeface="Consolas" panose="020B0609020204030204" pitchFamily="49" charset="0"/>
              </a:rPr>
              <a:t>"</a:t>
            </a:r>
            <a:r>
              <a:rPr kumimoji="0" lang="en-US" altLang="en-US" sz="1200" b="0" i="0" u="none" strike="noStrike" cap="none" normalizeH="0" baseline="0" dirty="0" err="1">
                <a:ln>
                  <a:noFill/>
                </a:ln>
                <a:solidFill>
                  <a:srgbClr val="669900"/>
                </a:solidFill>
                <a:effectLst/>
                <a:latin typeface="Consolas" panose="020B0609020204030204" pitchFamily="49" charset="0"/>
              </a:rPr>
              <a:t>myglobalobject.h</a:t>
            </a:r>
            <a:r>
              <a:rPr kumimoji="0" lang="en-US" altLang="en-US" sz="1200" b="0" i="0" u="none" strike="noStrike" cap="none" normalizeH="0" baseline="0" dirty="0">
                <a:ln>
                  <a:noFill/>
                </a:ln>
                <a:solidFill>
                  <a:srgbClr val="669900"/>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int main(int </a:t>
            </a:r>
            <a:r>
              <a:rPr kumimoji="0" lang="en-US" altLang="en-US" sz="1200" b="0" i="0" u="none" strike="noStrike" cap="none" normalizeH="0" baseline="0" dirty="0" err="1">
                <a:ln>
                  <a:noFill/>
                </a:ln>
                <a:solidFill>
                  <a:srgbClr val="000000"/>
                </a:solidFill>
                <a:effectLst/>
                <a:latin typeface="Consolas" panose="020B0609020204030204" pitchFamily="49" charset="0"/>
              </a:rPr>
              <a:t>argc</a:t>
            </a:r>
            <a:r>
              <a:rPr kumimoji="0" lang="en-US" altLang="en-US" sz="1200" b="0" i="0" u="none" strike="noStrike" cap="none" normalizeH="0" baseline="0" dirty="0">
                <a:ln>
                  <a:noFill/>
                </a:ln>
                <a:solidFill>
                  <a:srgbClr val="000000"/>
                </a:solidFill>
                <a:effectLst/>
                <a:latin typeface="Consolas" panose="020B0609020204030204" pitchFamily="49" charset="0"/>
              </a:rPr>
              <a:t>, char </a:t>
            </a:r>
            <a:r>
              <a:rPr kumimoji="0" lang="en-US" altLang="en-US" sz="1200" b="0" i="0" u="none" strike="noStrike" cap="none" normalizeH="0" baseline="0" dirty="0">
                <a:ln>
                  <a:noFill/>
                </a:ln>
                <a:solidFill>
                  <a:srgbClr val="A67F59"/>
                </a:solidFill>
                <a:effectLst/>
                <a:latin typeface="Consolas" panose="020B0609020204030204" pitchFamily="49" charset="0"/>
              </a:rPr>
              <a:t>*</a:t>
            </a:r>
            <a:r>
              <a:rPr kumimoji="0" lang="en-US" altLang="en-US" sz="1200" b="0" i="0" u="none" strike="noStrike" cap="none" normalizeH="0" baseline="0" dirty="0" err="1">
                <a:ln>
                  <a:noFill/>
                </a:ln>
                <a:solidFill>
                  <a:srgbClr val="000000"/>
                </a:solidFill>
                <a:effectLst/>
                <a:latin typeface="Consolas" panose="020B0609020204030204" pitchFamily="49" charset="0"/>
              </a:rPr>
              <a:t>argv</a:t>
            </a: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1200" b="0" i="0" u="none" strike="noStrike" cap="none" normalizeH="0" baseline="0" dirty="0">
                <a:ln>
                  <a:noFill/>
                </a:ln>
                <a:solidFill>
                  <a:srgbClr val="669900"/>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708090"/>
                </a:solidFill>
                <a:effectLst/>
                <a:latin typeface="Consolas" panose="020B0609020204030204" pitchFamily="49" charset="0"/>
              </a:rPr>
            </a:br>
            <a:r>
              <a:rPr kumimoji="0" lang="en-US" altLang="en-US" sz="1200" b="0" i="0" u="none" strike="noStrike" cap="none" normalizeH="0" baseline="0" dirty="0">
                <a:ln>
                  <a:noFill/>
                </a:ln>
                <a:solidFill>
                  <a:srgbClr val="708090"/>
                </a:solidFill>
                <a:effectLst/>
                <a:latin typeface="Consolas" panose="020B0609020204030204" pitchFamily="49" charset="0"/>
              </a:rPr>
              <a:t>// initialize</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708090"/>
                </a:solidFill>
                <a:effectLst/>
                <a:latin typeface="Consolas" panose="020B0609020204030204" pitchFamily="49" charset="0"/>
              </a:rPr>
              <a:t>// add global </a:t>
            </a:r>
            <a:r>
              <a:rPr kumimoji="0" lang="en-US" altLang="en-US" sz="1200" b="0" i="0" u="none" strike="noStrike" cap="none" normalizeH="0" baseline="0" dirty="0" err="1">
                <a:ln>
                  <a:noFill/>
                </a:ln>
                <a:solidFill>
                  <a:srgbClr val="708090"/>
                </a:solidFill>
                <a:effectLst/>
                <a:latin typeface="Consolas" panose="020B0609020204030204" pitchFamily="49" charset="0"/>
              </a:rPr>
              <a:t>c++</a:t>
            </a:r>
            <a:r>
              <a:rPr kumimoji="0" lang="en-US" altLang="en-US" sz="1200" b="0" i="0" u="none" strike="noStrike" cap="none" normalizeH="0" baseline="0" dirty="0">
                <a:ln>
                  <a:noFill/>
                </a:ln>
                <a:solidFill>
                  <a:srgbClr val="708090"/>
                </a:solidFill>
                <a:effectLst/>
                <a:latin typeface="Consolas" panose="020B0609020204030204" pitchFamily="49" charset="0"/>
              </a:rPr>
              <a:t> object to the QML context as a property</a:t>
            </a:r>
            <a:br>
              <a:rPr kumimoji="0" lang="en-US" altLang="en-US" sz="1200" b="0" i="0" u="none" strike="noStrike" cap="none" normalizeH="0" baseline="0" dirty="0">
                <a:ln>
                  <a:noFill/>
                </a:ln>
                <a:solidFill>
                  <a:srgbClr val="70809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MyGlobalObject</a:t>
            </a:r>
            <a:r>
              <a:rPr kumimoji="0" lang="en-US" altLang="en-US" sz="1200" b="0" i="0" u="none" strike="noStrike" cap="none" normalizeH="0" baseline="0" dirty="0">
                <a:ln>
                  <a:noFill/>
                </a:ln>
                <a:solidFill>
                  <a:srgbClr val="A67F59"/>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err="1">
                <a:ln>
                  <a:noFill/>
                </a:ln>
                <a:solidFill>
                  <a:srgbClr val="000000"/>
                </a:solidFill>
                <a:effectLst/>
                <a:latin typeface="Consolas" panose="020B0609020204030204" pitchFamily="49" charset="0"/>
              </a:rPr>
              <a:t>myGlobal</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A67F59"/>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0077AA"/>
                </a:solidFill>
                <a:effectLst/>
                <a:latin typeface="Consolas" panose="020B0609020204030204" pitchFamily="49" charset="0"/>
              </a:rPr>
              <a:t>new</a:t>
            </a:r>
            <a:r>
              <a:rPr kumimoji="0" lang="en-US" altLang="en-US" sz="1200" b="0" i="0" u="none" strike="noStrike" cap="none" normalizeH="0" baseline="0" dirty="0">
                <a:ln>
                  <a:noFill/>
                </a:ln>
                <a:solidFill>
                  <a:srgbClr val="000000"/>
                </a:solidFill>
                <a:effectLst/>
                <a:latin typeface="Consolas" panose="020B0609020204030204" pitchFamily="49" charset="0"/>
              </a:rPr>
              <a:t> MyGlobalObject()</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err="1">
                <a:ln>
                  <a:noFill/>
                </a:ln>
                <a:solidFill>
                  <a:srgbClr val="000000"/>
                </a:solidFill>
                <a:effectLst/>
                <a:latin typeface="Consolas" panose="020B0609020204030204" pitchFamily="49" charset="0"/>
              </a:rPr>
              <a:t>myGlobal</a:t>
            </a:r>
            <a:r>
              <a:rPr kumimoji="0" lang="en-US" altLang="en-US" sz="1200" b="0" i="0" u="none" strike="noStrike" cap="none" normalizeH="0" baseline="0" dirty="0">
                <a:ln>
                  <a:noFill/>
                </a:ln>
                <a:solidFill>
                  <a:srgbClr val="A67F59"/>
                </a:solidFill>
                <a:effectLst/>
                <a:latin typeface="Consolas" panose="020B0609020204030204" pitchFamily="49" charset="0"/>
              </a:rPr>
              <a:t>-&gt;</a:t>
            </a:r>
            <a:r>
              <a:rPr kumimoji="0" lang="en-US" altLang="en-US" sz="1200" b="0" i="0" u="none" strike="noStrike" cap="none" normalizeH="0" baseline="0" dirty="0" err="1">
                <a:ln>
                  <a:noFill/>
                </a:ln>
                <a:solidFill>
                  <a:srgbClr val="000000"/>
                </a:solidFill>
                <a:effectLst/>
                <a:latin typeface="Consolas" panose="020B0609020204030204" pitchFamily="49" charset="0"/>
              </a:rPr>
              <a:t>doSomething</a:t>
            </a: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1200" b="0" i="0" u="none" strike="noStrike" cap="none" normalizeH="0" baseline="0" dirty="0">
                <a:ln>
                  <a:noFill/>
                </a:ln>
                <a:solidFill>
                  <a:srgbClr val="669900"/>
                </a:solidFill>
                <a:effectLst/>
                <a:latin typeface="Consolas" panose="020B0609020204030204" pitchFamily="49" charset="0"/>
              </a:rPr>
              <a:t>"TEXT FROM C++"</a:t>
            </a: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engine.rootContext()</a:t>
            </a:r>
            <a:r>
              <a:rPr kumimoji="0" lang="en-US" altLang="en-US" sz="1200" b="0" i="0" u="none" strike="noStrike" cap="none" normalizeH="0" baseline="0" dirty="0">
                <a:ln>
                  <a:noFill/>
                </a:ln>
                <a:solidFill>
                  <a:srgbClr val="A67F59"/>
                </a:solidFill>
                <a:effectLst/>
                <a:latin typeface="Consolas" panose="020B0609020204030204" pitchFamily="49" charset="0"/>
              </a:rPr>
              <a:t>-&gt;</a:t>
            </a:r>
            <a:r>
              <a:rPr kumimoji="0" lang="en-US" altLang="en-US" sz="1200" b="0" i="0" u="none" strike="noStrike" cap="none" normalizeH="0" baseline="0" dirty="0" err="1">
                <a:ln>
                  <a:noFill/>
                </a:ln>
                <a:solidFill>
                  <a:srgbClr val="000000"/>
                </a:solidFill>
                <a:effectLst/>
                <a:latin typeface="Consolas" panose="020B0609020204030204" pitchFamily="49" charset="0"/>
              </a:rPr>
              <a:t>setContextProperty</a:t>
            </a: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1200" b="0" i="0" u="none" strike="noStrike" cap="none" normalizeH="0" baseline="0" dirty="0">
                <a:ln>
                  <a:noFill/>
                </a:ln>
                <a:solidFill>
                  <a:srgbClr val="669900"/>
                </a:solidFill>
                <a:effectLst/>
                <a:latin typeface="Consolas" panose="020B0609020204030204" pitchFamily="49" charset="0"/>
              </a:rPr>
              <a:t>"</a:t>
            </a:r>
            <a:r>
              <a:rPr kumimoji="0" lang="en-US" altLang="en-US" sz="1200" b="0" i="0" u="none" strike="noStrike" cap="none" normalizeH="0" baseline="0" dirty="0" err="1">
                <a:ln>
                  <a:noFill/>
                </a:ln>
                <a:solidFill>
                  <a:srgbClr val="669900"/>
                </a:solidFill>
                <a:effectLst/>
                <a:latin typeface="Consolas" panose="020B0609020204030204" pitchFamily="49" charset="0"/>
              </a:rPr>
              <a:t>myGlobalObject</a:t>
            </a:r>
            <a:r>
              <a:rPr kumimoji="0" lang="en-US" altLang="en-US" sz="1200" b="0" i="0" u="none" strike="noStrike" cap="none" normalizeH="0" baseline="0" dirty="0">
                <a:ln>
                  <a:noFill/>
                </a:ln>
                <a:solidFill>
                  <a:srgbClr val="669900"/>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err="1">
                <a:ln>
                  <a:noFill/>
                </a:ln>
                <a:solidFill>
                  <a:srgbClr val="000000"/>
                </a:solidFill>
                <a:effectLst/>
                <a:latin typeface="Consolas" panose="020B0609020204030204" pitchFamily="49" charset="0"/>
              </a:rPr>
              <a:t>myGlobal</a:t>
            </a: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a:ln>
                  <a:noFill/>
                </a:ln>
                <a:solidFill>
                  <a:srgbClr val="708090"/>
                </a:solidFill>
                <a:effectLst/>
                <a:latin typeface="Consolas" panose="020B0609020204030204" pitchFamily="49" charset="0"/>
              </a:rPr>
              <a:t> // the object will be available in QML with name "</a:t>
            </a:r>
            <a:r>
              <a:rPr kumimoji="0" lang="en-US" altLang="en-US" sz="1200" b="0" i="0" u="none" strike="noStrike" cap="none" normalizeH="0" baseline="0" dirty="0" err="1">
                <a:ln>
                  <a:noFill/>
                </a:ln>
                <a:solidFill>
                  <a:srgbClr val="708090"/>
                </a:solidFill>
                <a:effectLst/>
                <a:latin typeface="Consolas" panose="020B0609020204030204" pitchFamily="49" charset="0"/>
              </a:rPr>
              <a:t>myGlobalObject</a:t>
            </a:r>
            <a:r>
              <a:rPr kumimoji="0" lang="en-US" altLang="en-US" sz="1200" b="0" i="0" u="none" strike="noStrike" cap="none" normalizeH="0" baseline="0" dirty="0">
                <a:ln>
                  <a:noFill/>
                </a:ln>
                <a:solidFill>
                  <a:srgbClr val="708090"/>
                </a:solidFill>
                <a:effectLst/>
                <a:latin typeface="Consolas" panose="020B0609020204030204" pitchFamily="49" charset="0"/>
              </a:rPr>
              <a:t>"</a:t>
            </a:r>
            <a:br>
              <a:rPr kumimoji="0" lang="en-US" altLang="en-US" sz="1200" b="0" i="0" u="none" strike="noStrike" cap="none" normalizeH="0" baseline="0" dirty="0">
                <a:ln>
                  <a:noFill/>
                </a:ln>
                <a:solidFill>
                  <a:srgbClr val="708090"/>
                </a:solidFill>
                <a:effectLst/>
                <a:latin typeface="Consolas" panose="020B0609020204030204" pitchFamily="49" charset="0"/>
              </a:rPr>
            </a:br>
            <a:r>
              <a:rPr lang="en-US" altLang="en-US" sz="1200" dirty="0">
                <a:solidFill>
                  <a:srgbClr val="000000"/>
                </a:solidFill>
                <a:latin typeface="Consolas" panose="020B0609020204030204" pitchFamily="49" charset="0"/>
              </a:rPr>
              <a:t>// …</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77AA"/>
                </a:solidFill>
                <a:effectLst/>
                <a:latin typeface="Consolas" panose="020B0609020204030204" pitchFamily="49" charset="0"/>
              </a:rPr>
              <a:t>return</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err="1">
                <a:ln>
                  <a:noFill/>
                </a:ln>
                <a:solidFill>
                  <a:srgbClr val="000000"/>
                </a:solidFill>
                <a:effectLst/>
                <a:latin typeface="Consolas" panose="020B0609020204030204" pitchFamily="49" charset="0"/>
              </a:rPr>
              <a:t>app.exec</a:t>
            </a: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Google Shape;84;p3">
            <a:extLst>
              <a:ext uri="{FF2B5EF4-FFF2-40B4-BE49-F238E27FC236}">
                <a16:creationId xmlns:a16="http://schemas.microsoft.com/office/drawing/2014/main" id="{EC615493-5694-4634-8056-53A75593B472}"/>
              </a:ext>
            </a:extLst>
          </p:cNvPr>
          <p:cNvSpPr txBox="1">
            <a:spLocks/>
          </p:cNvSpPr>
          <p:nvPr/>
        </p:nvSpPr>
        <p:spPr>
          <a:xfrm>
            <a:off x="436600" y="1765791"/>
            <a:ext cx="5049800" cy="4719264"/>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28600" algn="l" rtl="0">
              <a:lnSpc>
                <a:spcPct val="114000"/>
              </a:lnSpc>
              <a:spcBef>
                <a:spcPts val="0"/>
              </a:spcBef>
              <a:spcAft>
                <a:spcPts val="0"/>
              </a:spcAft>
              <a:buClr>
                <a:schemeClr val="dk1"/>
              </a:buClr>
              <a:buSzPts val="1500"/>
              <a:buFont typeface="Roboto Condensed"/>
              <a:buNone/>
              <a:defRPr sz="2000" b="0" i="0" u="none" strike="noStrike" cap="none">
                <a:solidFill>
                  <a:schemeClr val="dk1"/>
                </a:solidFill>
                <a:latin typeface="Roboto Condensed"/>
                <a:ea typeface="Roboto Condensed"/>
                <a:cs typeface="Roboto Condensed"/>
                <a:sym typeface="Roboto Condensed"/>
              </a:defRPr>
            </a:lvl1pPr>
            <a:lvl2pPr marL="914400" marR="0" lvl="1" indent="-311150" algn="l" rtl="0">
              <a:lnSpc>
                <a:spcPct val="115000"/>
              </a:lnSpc>
              <a:spcBef>
                <a:spcPts val="1333"/>
              </a:spcBef>
              <a:spcAft>
                <a:spcPts val="0"/>
              </a:spcAft>
              <a:buClr>
                <a:schemeClr val="dk1"/>
              </a:buClr>
              <a:buSzPts val="1300"/>
              <a:buFont typeface="Roboto Condensed"/>
              <a:buChar char="•"/>
              <a:defRPr sz="1733" b="0" i="0" u="none" strike="noStrike" cap="none">
                <a:solidFill>
                  <a:schemeClr val="dk1"/>
                </a:solidFill>
                <a:latin typeface="Roboto Condensed"/>
                <a:ea typeface="Roboto Condensed"/>
                <a:cs typeface="Roboto Condensed"/>
                <a:sym typeface="Roboto Condensed"/>
              </a:defRPr>
            </a:lvl2pPr>
            <a:lvl3pPr marL="1371600" marR="0" lvl="2" indent="-311150" algn="l" rtl="0">
              <a:lnSpc>
                <a:spcPct val="115000"/>
              </a:lnSpc>
              <a:spcBef>
                <a:spcPts val="667"/>
              </a:spcBef>
              <a:spcAft>
                <a:spcPts val="0"/>
              </a:spcAft>
              <a:buClr>
                <a:schemeClr val="dk1"/>
              </a:buClr>
              <a:buSzPts val="1300"/>
              <a:buFont typeface="Roboto Condensed"/>
              <a:buChar char="•"/>
              <a:defRPr sz="1733" b="0" i="0" u="none" strike="noStrike" cap="none">
                <a:solidFill>
                  <a:schemeClr val="dk1"/>
                </a:solidFill>
                <a:latin typeface="Roboto Condensed"/>
                <a:ea typeface="Roboto Condensed"/>
                <a:cs typeface="Roboto Condensed"/>
                <a:sym typeface="Roboto Condensed"/>
              </a:defRPr>
            </a:lvl3pPr>
            <a:lvl4pPr marL="1828800" marR="0" lvl="3" indent="-311150" algn="l" rtl="0">
              <a:lnSpc>
                <a:spcPct val="115000"/>
              </a:lnSpc>
              <a:spcBef>
                <a:spcPts val="667"/>
              </a:spcBef>
              <a:spcAft>
                <a:spcPts val="0"/>
              </a:spcAft>
              <a:buClr>
                <a:schemeClr val="dk1"/>
              </a:buClr>
              <a:buSzPts val="1300"/>
              <a:buFont typeface="Roboto Condensed"/>
              <a:buChar char="•"/>
              <a:defRPr sz="1733" b="0" i="0" u="none" strike="noStrike" cap="none">
                <a:solidFill>
                  <a:schemeClr val="dk1"/>
                </a:solidFill>
                <a:latin typeface="Roboto Condensed"/>
                <a:ea typeface="Roboto Condensed"/>
                <a:cs typeface="Roboto Condensed"/>
                <a:sym typeface="Roboto Condensed"/>
              </a:defRPr>
            </a:lvl4pPr>
            <a:lvl5pPr marL="2286000" marR="0" lvl="4" indent="-311150" algn="l" rtl="0">
              <a:lnSpc>
                <a:spcPct val="115000"/>
              </a:lnSpc>
              <a:spcBef>
                <a:spcPts val="667"/>
              </a:spcBef>
              <a:spcAft>
                <a:spcPts val="0"/>
              </a:spcAft>
              <a:buClr>
                <a:schemeClr val="dk1"/>
              </a:buClr>
              <a:buSzPts val="1300"/>
              <a:buFont typeface="Roboto Condensed"/>
              <a:buChar char="•"/>
              <a:defRPr sz="1733" b="0" i="0" u="none" strike="noStrike" cap="none">
                <a:solidFill>
                  <a:schemeClr val="dk1"/>
                </a:solidFill>
                <a:latin typeface="Roboto Condensed"/>
                <a:ea typeface="Roboto Condensed"/>
                <a:cs typeface="Roboto Condensed"/>
                <a:sym typeface="Roboto Condensed"/>
              </a:defRPr>
            </a:lvl5pPr>
            <a:lvl6pPr marL="2743200" marR="0" lvl="5" indent="-311150" algn="l" rtl="0">
              <a:lnSpc>
                <a:spcPct val="115000"/>
              </a:lnSpc>
              <a:spcBef>
                <a:spcPts val="667"/>
              </a:spcBef>
              <a:spcAft>
                <a:spcPts val="0"/>
              </a:spcAft>
              <a:buClr>
                <a:schemeClr val="dk1"/>
              </a:buClr>
              <a:buSzPts val="1300"/>
              <a:buFont typeface="Roboto Condensed"/>
              <a:buChar char="•"/>
              <a:defRPr sz="1733" b="0" i="0" u="none" strike="noStrike" cap="none">
                <a:solidFill>
                  <a:schemeClr val="dk1"/>
                </a:solidFill>
                <a:latin typeface="Roboto Condensed"/>
                <a:ea typeface="Roboto Condensed"/>
                <a:cs typeface="Roboto Condensed"/>
                <a:sym typeface="Roboto Condensed"/>
              </a:defRPr>
            </a:lvl6pPr>
            <a:lvl7pPr marL="3200400" marR="0" lvl="6" indent="-311150" algn="l" rtl="0">
              <a:lnSpc>
                <a:spcPct val="115000"/>
              </a:lnSpc>
              <a:spcBef>
                <a:spcPts val="667"/>
              </a:spcBef>
              <a:spcAft>
                <a:spcPts val="0"/>
              </a:spcAft>
              <a:buClr>
                <a:schemeClr val="dk1"/>
              </a:buClr>
              <a:buSzPts val="1300"/>
              <a:buFont typeface="Roboto Condensed"/>
              <a:buChar char="•"/>
              <a:defRPr sz="1733" b="0" i="0" u="none" strike="noStrike" cap="none">
                <a:solidFill>
                  <a:schemeClr val="dk1"/>
                </a:solidFill>
                <a:latin typeface="Roboto Condensed"/>
                <a:ea typeface="Roboto Condensed"/>
                <a:cs typeface="Roboto Condensed"/>
                <a:sym typeface="Roboto Condensed"/>
              </a:defRPr>
            </a:lvl7pPr>
            <a:lvl8pPr marL="3657600" marR="0" lvl="7" indent="-311150" algn="l" rtl="0">
              <a:lnSpc>
                <a:spcPct val="115000"/>
              </a:lnSpc>
              <a:spcBef>
                <a:spcPts val="667"/>
              </a:spcBef>
              <a:spcAft>
                <a:spcPts val="0"/>
              </a:spcAft>
              <a:buClr>
                <a:schemeClr val="dk1"/>
              </a:buClr>
              <a:buSzPts val="1300"/>
              <a:buFont typeface="Roboto Condensed"/>
              <a:buChar char="•"/>
              <a:defRPr sz="1733" b="0" i="0" u="none" strike="noStrike" cap="none">
                <a:solidFill>
                  <a:schemeClr val="dk1"/>
                </a:solidFill>
                <a:latin typeface="Roboto Condensed"/>
                <a:ea typeface="Roboto Condensed"/>
                <a:cs typeface="Roboto Condensed"/>
                <a:sym typeface="Roboto Condensed"/>
              </a:defRPr>
            </a:lvl8pPr>
            <a:lvl9pPr marL="4114800" marR="0" lvl="8" indent="-311150" algn="l" rtl="0">
              <a:lnSpc>
                <a:spcPct val="115000"/>
              </a:lnSpc>
              <a:spcBef>
                <a:spcPts val="667"/>
              </a:spcBef>
              <a:spcAft>
                <a:spcPts val="667"/>
              </a:spcAft>
              <a:buClr>
                <a:schemeClr val="dk1"/>
              </a:buClr>
              <a:buSzPts val="1300"/>
              <a:buFont typeface="Roboto Condensed"/>
              <a:buChar char="•"/>
              <a:defRPr sz="1733" b="0" i="0" u="none" strike="noStrike" cap="none">
                <a:solidFill>
                  <a:schemeClr val="dk1"/>
                </a:solidFill>
                <a:latin typeface="Roboto Condensed"/>
                <a:ea typeface="Roboto Condensed"/>
                <a:cs typeface="Roboto Condensed"/>
                <a:sym typeface="Roboto Condensed"/>
              </a:defRPr>
            </a:lvl9pPr>
          </a:lstStyle>
          <a:p>
            <a:pPr marL="0" indent="0" algn="just">
              <a:lnSpc>
                <a:spcPct val="100000"/>
              </a:lnSpc>
              <a:buSzPts val="1400"/>
            </a:pPr>
            <a:r>
              <a:rPr lang="en-US" kern="0" dirty="0"/>
              <a:t>One possible way to work with a C++ object in QML is to add the object as a property to the root context of the QML tree. You can decide on a name for the property, which is then globally available in your QML code.</a:t>
            </a:r>
          </a:p>
          <a:p>
            <a:pPr marL="0" indent="0" algn="just">
              <a:lnSpc>
                <a:spcPct val="100000"/>
              </a:lnSpc>
              <a:buSzPts val="1400"/>
            </a:pPr>
            <a:endParaRPr lang="en-US" b="1" kern="0" dirty="0"/>
          </a:p>
          <a:p>
            <a:pPr indent="-457200" algn="just">
              <a:lnSpc>
                <a:spcPct val="100000"/>
              </a:lnSpc>
              <a:buSzPts val="1400"/>
              <a:buFont typeface="Roboto Condensed"/>
              <a:buAutoNum type="arabicPeriod"/>
            </a:pPr>
            <a:r>
              <a:rPr lang="en-US" kern="0" dirty="0"/>
              <a:t>To create a new object of our class and add it as a property, we extend the main.cpp code:</a:t>
            </a:r>
          </a:p>
          <a:p>
            <a:pPr marL="0" indent="0" algn="just">
              <a:lnSpc>
                <a:spcPct val="100000"/>
              </a:lnSpc>
              <a:buSzPts val="1400"/>
            </a:pPr>
            <a:endParaRPr lang="en-US" kern="0" dirty="0"/>
          </a:p>
          <a:p>
            <a:pPr marL="0" indent="0" algn="just">
              <a:lnSpc>
                <a:spcPct val="100000"/>
              </a:lnSpc>
              <a:buSzPts val="1400"/>
            </a:pPr>
            <a:r>
              <a:rPr lang="en-US" sz="1600" i="1" kern="0" dirty="0"/>
              <a:t>Note: It is possible to fully use the object also in C++. The above code example already includes a test-call to our </a:t>
            </a:r>
            <a:r>
              <a:rPr lang="en-US" sz="1600" i="1" kern="0" dirty="0" err="1"/>
              <a:t>doSomething</a:t>
            </a:r>
            <a:r>
              <a:rPr lang="en-US" sz="1600" i="1" kern="0" dirty="0"/>
              <a:t> method.</a:t>
            </a:r>
          </a:p>
          <a:p>
            <a:pPr marL="0" indent="0" algn="just">
              <a:lnSpc>
                <a:spcPct val="100000"/>
              </a:lnSpc>
              <a:buSzPts val="1400"/>
            </a:pPr>
            <a:endParaRPr lang="en-US" kern="0" dirty="0"/>
          </a:p>
        </p:txBody>
      </p:sp>
    </p:spTree>
    <p:extLst>
      <p:ext uri="{BB962C8B-B14F-4D97-AF65-F5344CB8AC3E}">
        <p14:creationId xmlns:p14="http://schemas.microsoft.com/office/powerpoint/2010/main" val="1992258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Access a C++ Object from QML</a:t>
            </a:r>
          </a:p>
        </p:txBody>
      </p:sp>
      <p:sp>
        <p:nvSpPr>
          <p:cNvPr id="84" name="Google Shape;84;p3"/>
          <p:cNvSpPr txBox="1">
            <a:spLocks noGrp="1"/>
          </p:cNvSpPr>
          <p:nvPr>
            <p:ph type="body" idx="1"/>
          </p:nvPr>
        </p:nvSpPr>
        <p:spPr>
          <a:xfrm>
            <a:off x="436600" y="1296867"/>
            <a:ext cx="11310400" cy="5305417"/>
          </a:xfrm>
          <a:prstGeom prst="rect">
            <a:avLst/>
          </a:prstGeom>
          <a:noFill/>
          <a:ln>
            <a:noFill/>
          </a:ln>
        </p:spPr>
        <p:txBody>
          <a:bodyPr spcFirstLastPara="1" wrap="square" lIns="68575" tIns="34275" rIns="68575" bIns="34275" anchor="t" anchorCtr="0">
            <a:noAutofit/>
          </a:bodyPr>
          <a:lstStyle/>
          <a:p>
            <a:pPr marL="342900" lvl="0" indent="-342900">
              <a:lnSpc>
                <a:spcPct val="100000"/>
              </a:lnSpc>
              <a:buSzPts val="1400"/>
              <a:buFont typeface="Wingdings" panose="05000000000000000000" pitchFamily="2" charset="2"/>
              <a:buChar char="q"/>
            </a:pPr>
            <a:r>
              <a:rPr lang="en-US" b="1" dirty="0"/>
              <a:t>Expose an Object to QML as a Context Property</a:t>
            </a:r>
          </a:p>
          <a:p>
            <a:pPr lvl="0" indent="-457200">
              <a:lnSpc>
                <a:spcPct val="100000"/>
              </a:lnSpc>
              <a:buSzPts val="1400"/>
              <a:buFont typeface="+mj-lt"/>
              <a:buAutoNum type="arabicPeriod" startAt="2"/>
            </a:pPr>
            <a:r>
              <a:rPr lang="en-US" dirty="0"/>
              <a:t>In the </a:t>
            </a:r>
            <a:r>
              <a:rPr lang="en-US" dirty="0" err="1"/>
              <a:t>Main.qml</a:t>
            </a:r>
            <a:r>
              <a:rPr lang="en-US" dirty="0"/>
              <a:t> of our project, we use a Button, which calls the </a:t>
            </a:r>
            <a:r>
              <a:rPr lang="en-US" dirty="0" err="1"/>
              <a:t>doSomething</a:t>
            </a:r>
            <a:r>
              <a:rPr lang="en-US" dirty="0"/>
              <a:t>() method when clicked:</a:t>
            </a:r>
            <a:endParaRPr lang="en-US" b="1" dirty="0"/>
          </a:p>
        </p:txBody>
      </p:sp>
      <p:sp>
        <p:nvSpPr>
          <p:cNvPr id="3" name="Rectangle 1">
            <a:extLst>
              <a:ext uri="{FF2B5EF4-FFF2-40B4-BE49-F238E27FC236}">
                <a16:creationId xmlns:a16="http://schemas.microsoft.com/office/drawing/2014/main" id="{C6450B42-607C-443B-AD84-A5A50BB52A54}"/>
              </a:ext>
            </a:extLst>
          </p:cNvPr>
          <p:cNvSpPr>
            <a:spLocks noChangeArrowheads="1"/>
          </p:cNvSpPr>
          <p:nvPr/>
        </p:nvSpPr>
        <p:spPr bwMode="auto">
          <a:xfrm>
            <a:off x="948787" y="2398994"/>
            <a:ext cx="7069797" cy="3816429"/>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182880" rIns="91440" bIns="1828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669900"/>
                </a:solidFill>
                <a:effectLst/>
                <a:latin typeface="Consolas" panose="020B0609020204030204" pitchFamily="49" charset="0"/>
              </a:rPr>
              <a:t>Page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0055"/>
                </a:solidFill>
                <a:effectLst/>
                <a:latin typeface="Consolas" panose="020B0609020204030204" pitchFamily="49" charset="0"/>
              </a:rPr>
              <a:t>title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669900"/>
                </a:solidFill>
                <a:effectLst/>
                <a:latin typeface="Consolas" panose="020B0609020204030204" pitchFamily="49" charset="0"/>
              </a:rPr>
              <a:t>"Integrate C++ and QML"</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Example 1 - Global Context Property</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NOTE: </a:t>
            </a:r>
            <a:r>
              <a:rPr kumimoji="0" lang="en-US" altLang="en-US" sz="1400" b="0" i="0" u="none" strike="noStrike" cap="none" normalizeH="0" baseline="0" dirty="0" err="1">
                <a:ln>
                  <a:noFill/>
                </a:ln>
                <a:solidFill>
                  <a:srgbClr val="708090"/>
                </a:solidFill>
                <a:effectLst/>
                <a:latin typeface="Consolas" panose="020B0609020204030204" pitchFamily="49" charset="0"/>
              </a:rPr>
              <a:t>myGlobalObject</a:t>
            </a:r>
            <a:r>
              <a:rPr kumimoji="0" lang="en-US" altLang="en-US" sz="1400" b="0" i="0" u="none" strike="noStrike" cap="none" normalizeH="0" baseline="0" dirty="0">
                <a:ln>
                  <a:noFill/>
                </a:ln>
                <a:solidFill>
                  <a:srgbClr val="708090"/>
                </a:solidFill>
                <a:effectLst/>
                <a:latin typeface="Consolas" panose="020B0609020204030204" pitchFamily="49" charset="0"/>
              </a:rPr>
              <a:t> is available here because it is set as a context property in main.cpp</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669900"/>
                </a:solidFill>
                <a:effectLst/>
                <a:latin typeface="Consolas" panose="020B0609020204030204" pitchFamily="49" charset="0"/>
              </a:rPr>
              <a:t>Column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1.1: Calling </a:t>
            </a:r>
            <a:r>
              <a:rPr kumimoji="0" lang="en-US" altLang="en-US" sz="1400" b="0" i="0" u="none" strike="noStrike" cap="none" normalizeH="0" baseline="0" dirty="0" err="1">
                <a:ln>
                  <a:noFill/>
                </a:ln>
                <a:solidFill>
                  <a:srgbClr val="708090"/>
                </a:solidFill>
                <a:effectLst/>
                <a:latin typeface="Consolas" panose="020B0609020204030204" pitchFamily="49" charset="0"/>
              </a:rPr>
              <a:t>myGlobalObject.doSomething</a:t>
            </a:r>
            <a:r>
              <a:rPr kumimoji="0" lang="en-US" altLang="en-US" sz="1400" b="0" i="0" u="none" strike="noStrike" cap="none" normalizeH="0" baseline="0" dirty="0">
                <a:ln>
                  <a:noFill/>
                </a:ln>
                <a:solidFill>
                  <a:srgbClr val="708090"/>
                </a:solidFill>
                <a:effectLst/>
                <a:latin typeface="Consolas" panose="020B0609020204030204" pitchFamily="49" charset="0"/>
              </a:rPr>
              <a:t>() function</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669900"/>
                </a:solidFill>
                <a:effectLst/>
                <a:latin typeface="Consolas" panose="020B0609020204030204" pitchFamily="49" charset="0"/>
              </a:rPr>
              <a:t>Button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0055"/>
                </a:solidFill>
                <a:effectLst/>
                <a:latin typeface="Consolas" panose="020B0609020204030204" pitchFamily="49" charset="0"/>
              </a:rPr>
              <a:t>text</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669900"/>
                </a:solidFill>
                <a:effectLst/>
                <a:latin typeface="Consolas" panose="020B0609020204030204" pitchFamily="49" charset="0"/>
              </a:rPr>
              <a:t>"</a:t>
            </a:r>
            <a:r>
              <a:rPr kumimoji="0" lang="en-US" altLang="en-US" sz="1400" b="0" i="0" u="none" strike="noStrike" cap="none" normalizeH="0" baseline="0" dirty="0" err="1">
                <a:ln>
                  <a:noFill/>
                </a:ln>
                <a:solidFill>
                  <a:srgbClr val="669900"/>
                </a:solidFill>
                <a:effectLst/>
                <a:latin typeface="Consolas" panose="020B0609020204030204" pitchFamily="49" charset="0"/>
              </a:rPr>
              <a:t>myGlobalObject.doSomething</a:t>
            </a:r>
            <a:r>
              <a:rPr kumimoji="0" lang="en-US" altLang="en-US" sz="1400" b="0" i="0" u="none" strike="noStrike" cap="none" normalizeH="0" baseline="0" dirty="0">
                <a:ln>
                  <a:noFill/>
                </a:ln>
                <a:solidFill>
                  <a:srgbClr val="6699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err="1">
                <a:ln>
                  <a:noFill/>
                </a:ln>
                <a:solidFill>
                  <a:srgbClr val="990055"/>
                </a:solidFill>
                <a:effectLst/>
                <a:latin typeface="Consolas" panose="020B0609020204030204" pitchFamily="49" charset="0"/>
              </a:rPr>
              <a:t>onClicked</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myGlobalObject.doSomething</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a:ln>
                  <a:noFill/>
                </a:ln>
                <a:solidFill>
                  <a:srgbClr val="669900"/>
                </a:solidFill>
                <a:effectLst/>
                <a:latin typeface="Consolas" panose="020B0609020204030204" pitchFamily="49" charset="0"/>
              </a:rPr>
              <a:t>"TEXT FROM QML"</a:t>
            </a:r>
            <a:r>
              <a:rPr kumimoji="0" lang="en-US" altLang="en-US" sz="1400" b="0" i="0" u="none" strike="noStrike" cap="none" normalizeH="0" baseline="0" dirty="0">
                <a:ln>
                  <a:noFill/>
                </a:ln>
                <a:solidFill>
                  <a:srgbClr val="0000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15162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Register C++ Class as a QML Type</a:t>
            </a:r>
          </a:p>
        </p:txBody>
      </p:sp>
      <p:sp>
        <p:nvSpPr>
          <p:cNvPr id="84" name="Google Shape;84;p3"/>
          <p:cNvSpPr txBox="1">
            <a:spLocks noGrp="1"/>
          </p:cNvSpPr>
          <p:nvPr>
            <p:ph type="body" idx="1"/>
          </p:nvPr>
        </p:nvSpPr>
        <p:spPr>
          <a:xfrm>
            <a:off x="436600" y="1296867"/>
            <a:ext cx="11310400" cy="5305417"/>
          </a:xfrm>
          <a:prstGeom prst="rect">
            <a:avLst/>
          </a:prstGeom>
          <a:noFill/>
          <a:ln>
            <a:noFill/>
          </a:ln>
        </p:spPr>
        <p:txBody>
          <a:bodyPr spcFirstLastPara="1" wrap="square" lIns="68575" tIns="34275" rIns="68575" bIns="34275" anchor="t" anchorCtr="0">
            <a:noAutofit/>
          </a:bodyPr>
          <a:lstStyle/>
          <a:p>
            <a:pPr marL="0" lvl="0" indent="0" algn="just">
              <a:lnSpc>
                <a:spcPct val="100000"/>
              </a:lnSpc>
              <a:buSzPts val="1400"/>
            </a:pPr>
            <a:r>
              <a:rPr lang="en-US" dirty="0"/>
              <a:t>The second possibility to use C++ components in QML is to register the class as a QML type. This allows to create objects (= instances) of your type directly in QML instead of C++.</a:t>
            </a:r>
          </a:p>
          <a:p>
            <a:pPr marL="0" lvl="0" indent="0" algn="just">
              <a:lnSpc>
                <a:spcPct val="100000"/>
              </a:lnSpc>
              <a:buSzPts val="1400"/>
            </a:pPr>
            <a:endParaRPr lang="en-US" sz="1800" dirty="0"/>
          </a:p>
          <a:p>
            <a:pPr marL="285750" indent="-285750" algn="just">
              <a:lnSpc>
                <a:spcPct val="100000"/>
              </a:lnSpc>
              <a:buSzPts val="1400"/>
              <a:buFont typeface="Wingdings" panose="05000000000000000000" pitchFamily="2" charset="2"/>
              <a:buChar char="q"/>
            </a:pPr>
            <a:r>
              <a:rPr lang="en-US" b="1" dirty="0"/>
              <a:t>When to Use a Context Property and when a QML Object</a:t>
            </a:r>
          </a:p>
          <a:p>
            <a:pPr marL="0" indent="0" algn="just">
              <a:lnSpc>
                <a:spcPct val="100000"/>
              </a:lnSpc>
              <a:buSzPts val="1400"/>
            </a:pPr>
            <a:r>
              <a:rPr lang="en-US" dirty="0"/>
              <a:t>If there’s only a single object instance you want to work with in QML you can add the object as a context property. When there can be multiple instances of your class, register it as a QML type and create the objects directly in QML where you need it.</a:t>
            </a:r>
          </a:p>
          <a:p>
            <a:pPr marL="0" indent="0" algn="just">
              <a:lnSpc>
                <a:spcPct val="100000"/>
              </a:lnSpc>
              <a:buSzPts val="1400"/>
            </a:pPr>
            <a:endParaRPr lang="en-US" dirty="0"/>
          </a:p>
        </p:txBody>
      </p:sp>
    </p:spTree>
    <p:extLst>
      <p:ext uri="{BB962C8B-B14F-4D97-AF65-F5344CB8AC3E}">
        <p14:creationId xmlns:p14="http://schemas.microsoft.com/office/powerpoint/2010/main" val="1720532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Register C++ Class as a QML Type</a:t>
            </a:r>
          </a:p>
        </p:txBody>
      </p:sp>
      <p:sp>
        <p:nvSpPr>
          <p:cNvPr id="84" name="Google Shape;84;p3"/>
          <p:cNvSpPr txBox="1">
            <a:spLocks noGrp="1"/>
          </p:cNvSpPr>
          <p:nvPr>
            <p:ph type="body" idx="1"/>
          </p:nvPr>
        </p:nvSpPr>
        <p:spPr>
          <a:xfrm>
            <a:off x="436600" y="1296867"/>
            <a:ext cx="3865769" cy="5305417"/>
          </a:xfrm>
          <a:prstGeom prst="rect">
            <a:avLst/>
          </a:prstGeom>
          <a:noFill/>
          <a:ln>
            <a:noFill/>
          </a:ln>
        </p:spPr>
        <p:txBody>
          <a:bodyPr spcFirstLastPara="1" wrap="square" lIns="68575" tIns="34275" rIns="68575" bIns="34275" anchor="t" anchorCtr="0">
            <a:noAutofit/>
          </a:bodyPr>
          <a:lstStyle/>
          <a:p>
            <a:pPr indent="-457200" algn="just">
              <a:lnSpc>
                <a:spcPct val="100000"/>
              </a:lnSpc>
              <a:buSzPts val="1400"/>
              <a:buAutoNum type="arabicPeriod"/>
            </a:pPr>
            <a:r>
              <a:rPr lang="en-US" dirty="0"/>
              <a:t>For this example, we will create a new type we can use in QML. Let’s start with adding a new C++ Class named </a:t>
            </a:r>
            <a:r>
              <a:rPr lang="en-US" dirty="0" err="1"/>
              <a:t>MyQMLType</a:t>
            </a:r>
            <a:r>
              <a:rPr lang="en-US" dirty="0"/>
              <a:t>:</a:t>
            </a:r>
          </a:p>
        </p:txBody>
      </p:sp>
      <p:pic>
        <p:nvPicPr>
          <p:cNvPr id="12290" name="Picture 2" descr="Create a QML type with C++">
            <a:extLst>
              <a:ext uri="{FF2B5EF4-FFF2-40B4-BE49-F238E27FC236}">
                <a16:creationId xmlns:a16="http://schemas.microsoft.com/office/drawing/2014/main" id="{B573CF3E-FBDC-4C42-B54A-8B579EDA16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2389" y="1296867"/>
            <a:ext cx="7999611" cy="5561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9460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Register C++ Class as a QML Type</a:t>
            </a:r>
          </a:p>
        </p:txBody>
      </p:sp>
      <p:sp>
        <p:nvSpPr>
          <p:cNvPr id="84" name="Google Shape;84;p3"/>
          <p:cNvSpPr txBox="1">
            <a:spLocks noGrp="1"/>
          </p:cNvSpPr>
          <p:nvPr>
            <p:ph type="body" idx="1"/>
          </p:nvPr>
        </p:nvSpPr>
        <p:spPr>
          <a:xfrm>
            <a:off x="436600" y="1296867"/>
            <a:ext cx="5354600" cy="5305417"/>
          </a:xfrm>
          <a:prstGeom prst="rect">
            <a:avLst/>
          </a:prstGeom>
          <a:noFill/>
          <a:ln>
            <a:noFill/>
          </a:ln>
        </p:spPr>
        <p:txBody>
          <a:bodyPr spcFirstLastPara="1" wrap="square" lIns="68575" tIns="34275" rIns="68575" bIns="34275" anchor="t" anchorCtr="0">
            <a:noAutofit/>
          </a:bodyPr>
          <a:lstStyle/>
          <a:p>
            <a:pPr indent="-457200" algn="just">
              <a:lnSpc>
                <a:spcPct val="100000"/>
              </a:lnSpc>
              <a:buSzPts val="1400"/>
              <a:buFont typeface="+mj-lt"/>
              <a:buAutoNum type="arabicPeriod" startAt="2"/>
            </a:pPr>
            <a:r>
              <a:rPr lang="en-US" dirty="0"/>
              <a:t>Replace the code in </a:t>
            </a:r>
            <a:r>
              <a:rPr lang="en-US" dirty="0" err="1"/>
              <a:t>myqmltype.h</a:t>
            </a:r>
            <a:r>
              <a:rPr lang="en-US" dirty="0"/>
              <a:t> with this implementation:</a:t>
            </a:r>
          </a:p>
          <a:p>
            <a:pPr indent="-457200" algn="just">
              <a:lnSpc>
                <a:spcPct val="100000"/>
              </a:lnSpc>
              <a:buSzPts val="1400"/>
              <a:buFont typeface="+mj-lt"/>
              <a:buAutoNum type="arabicPeriod" startAt="2"/>
            </a:pPr>
            <a:endParaRPr lang="en-US" dirty="0"/>
          </a:p>
          <a:p>
            <a:pPr marL="0" indent="0" algn="just">
              <a:lnSpc>
                <a:spcPct val="100000"/>
              </a:lnSpc>
              <a:buSzPts val="1400"/>
            </a:pPr>
            <a:r>
              <a:rPr lang="en-US" sz="1800" dirty="0"/>
              <a:t>This type will have one public slot and a full-featured property with a getter method, a setter method and a property changed signal. The increment method increases a given integer value by one and the message property will store a string value.</a:t>
            </a:r>
          </a:p>
        </p:txBody>
      </p:sp>
      <p:sp>
        <p:nvSpPr>
          <p:cNvPr id="2" name="Rectangle 1">
            <a:extLst>
              <a:ext uri="{FF2B5EF4-FFF2-40B4-BE49-F238E27FC236}">
                <a16:creationId xmlns:a16="http://schemas.microsoft.com/office/drawing/2014/main" id="{A5AA6451-660F-45B8-B908-4C33A7E4BE15}"/>
              </a:ext>
            </a:extLst>
          </p:cNvPr>
          <p:cNvSpPr>
            <a:spLocks noChangeArrowheads="1"/>
          </p:cNvSpPr>
          <p:nvPr/>
        </p:nvSpPr>
        <p:spPr bwMode="auto">
          <a:xfrm>
            <a:off x="6026143" y="948690"/>
            <a:ext cx="5720862" cy="5909310"/>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91440" rIns="91440" bIns="91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rPr>
              <a:t>#ifndef MYQMLTYPE_H</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#define MYQMLTYPE_H</a:t>
            </a:r>
            <a:br>
              <a:rPr kumimoji="0" lang="en-US" altLang="en-US" sz="1200" b="0" i="0" u="none" strike="noStrike" cap="none" normalizeH="0" baseline="0" dirty="0">
                <a:ln>
                  <a:noFill/>
                </a:ln>
                <a:solidFill>
                  <a:srgbClr val="000000"/>
                </a:solidFill>
                <a:effectLst/>
                <a:latin typeface="Consolas" panose="020B0609020204030204" pitchFamily="49" charset="0"/>
              </a:rPr>
            </a:b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#include </a:t>
            </a:r>
            <a:r>
              <a:rPr kumimoji="0" lang="en-US" altLang="en-US" sz="1200" b="0" i="0" u="none" strike="noStrike" cap="none" normalizeH="0" baseline="0" dirty="0">
                <a:ln>
                  <a:noFill/>
                </a:ln>
                <a:solidFill>
                  <a:srgbClr val="A67F59"/>
                </a:solidFill>
                <a:effectLst/>
                <a:latin typeface="Consolas" panose="020B0609020204030204" pitchFamily="49" charset="0"/>
              </a:rPr>
              <a:t>&lt;</a:t>
            </a:r>
            <a:r>
              <a:rPr kumimoji="0" lang="en-US" altLang="en-US" sz="1200" b="0" i="0" u="none" strike="noStrike" cap="none" normalizeH="0" baseline="0" dirty="0" err="1">
                <a:ln>
                  <a:noFill/>
                </a:ln>
                <a:solidFill>
                  <a:srgbClr val="000000"/>
                </a:solidFill>
                <a:effectLst/>
                <a:latin typeface="Consolas" panose="020B0609020204030204" pitchFamily="49" charset="0"/>
              </a:rPr>
              <a:t>QObject</a:t>
            </a:r>
            <a:r>
              <a:rPr kumimoji="0" lang="en-US" altLang="en-US" sz="1200" b="0" i="0" u="none" strike="noStrike" cap="none" normalizeH="0" baseline="0" dirty="0">
                <a:ln>
                  <a:noFill/>
                </a:ln>
                <a:solidFill>
                  <a:srgbClr val="A67F59"/>
                </a:solidFill>
                <a:effectLst/>
                <a:latin typeface="Consolas" panose="020B0609020204030204" pitchFamily="49" charset="0"/>
              </a:rPr>
              <a:t>&gt;</a:t>
            </a:r>
            <a:br>
              <a:rPr kumimoji="0" lang="en-US" altLang="en-US" sz="1200" b="0" i="0" u="none" strike="noStrike" cap="none" normalizeH="0" baseline="0" dirty="0">
                <a:ln>
                  <a:noFill/>
                </a:ln>
                <a:solidFill>
                  <a:srgbClr val="000000"/>
                </a:solidFill>
                <a:effectLst/>
                <a:latin typeface="Consolas" panose="020B0609020204030204" pitchFamily="49" charset="0"/>
              </a:rPr>
            </a:b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class </a:t>
            </a:r>
            <a:r>
              <a:rPr kumimoji="0" lang="en-US" altLang="en-US" sz="1200" b="0" i="0" u="none" strike="noStrike" cap="none" normalizeH="0" baseline="0" dirty="0" err="1">
                <a:ln>
                  <a:noFill/>
                </a:ln>
                <a:solidFill>
                  <a:srgbClr val="990055"/>
                </a:solidFill>
                <a:effectLst/>
                <a:latin typeface="Consolas" panose="020B0609020204030204" pitchFamily="49" charset="0"/>
              </a:rPr>
              <a:t>MyQMLType</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669900"/>
                </a:solidFill>
                <a:effectLst/>
                <a:latin typeface="Consolas" panose="020B0609020204030204" pitchFamily="49" charset="0"/>
              </a:rPr>
              <a:t>public </a:t>
            </a:r>
            <a:r>
              <a:rPr kumimoji="0" lang="en-US" altLang="en-US" sz="1200" b="0" i="0" u="none" strike="noStrike" cap="none" normalizeH="0" baseline="0" dirty="0" err="1">
                <a:ln>
                  <a:noFill/>
                </a:ln>
                <a:solidFill>
                  <a:srgbClr val="669900"/>
                </a:solidFill>
                <a:effectLst/>
                <a:latin typeface="Consolas" panose="020B0609020204030204" pitchFamily="49" charset="0"/>
              </a:rPr>
              <a:t>QObject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Q_OBJECT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Q_PROPERTY(</a:t>
            </a:r>
            <a:r>
              <a:rPr kumimoji="0" lang="en-US" altLang="en-US" sz="1200" b="0" i="0" u="none" strike="noStrike" cap="none" normalizeH="0" baseline="0" dirty="0" err="1">
                <a:ln>
                  <a:noFill/>
                </a:ln>
                <a:solidFill>
                  <a:srgbClr val="000000"/>
                </a:solidFill>
                <a:effectLst/>
                <a:latin typeface="Consolas" panose="020B0609020204030204" pitchFamily="49" charset="0"/>
              </a:rPr>
              <a:t>QString</a:t>
            </a:r>
            <a:r>
              <a:rPr kumimoji="0" lang="en-US" altLang="en-US" sz="1200" b="0" i="0" u="none" strike="noStrike" cap="none" normalizeH="0" baseline="0" dirty="0">
                <a:ln>
                  <a:noFill/>
                </a:ln>
                <a:solidFill>
                  <a:srgbClr val="000000"/>
                </a:solidFill>
                <a:effectLst/>
                <a:latin typeface="Consolas" panose="020B0609020204030204" pitchFamily="49" charset="0"/>
              </a:rPr>
              <a:t> message READ message WRITE </a:t>
            </a:r>
            <a:r>
              <a:rPr kumimoji="0" lang="en-US" altLang="en-US" sz="1200" b="0" i="0" u="none" strike="noStrike" cap="none" normalizeH="0" baseline="0" dirty="0" err="1">
                <a:ln>
                  <a:noFill/>
                </a:ln>
                <a:solidFill>
                  <a:srgbClr val="000000"/>
                </a:solidFill>
                <a:effectLst/>
                <a:latin typeface="Consolas" panose="020B0609020204030204" pitchFamily="49" charset="0"/>
              </a:rPr>
              <a:t>setMessage</a:t>
            </a:r>
            <a:r>
              <a:rPr kumimoji="0" lang="en-US" altLang="en-US" sz="1200" b="0" i="0" u="none" strike="noStrike" cap="none" normalizeH="0" baseline="0" dirty="0">
                <a:ln>
                  <a:noFill/>
                </a:ln>
                <a:solidFill>
                  <a:srgbClr val="000000"/>
                </a:solidFill>
                <a:effectLst/>
                <a:latin typeface="Consolas" panose="020B0609020204030204" pitchFamily="49" charset="0"/>
              </a:rPr>
              <a:t> NOTIFY </a:t>
            </a:r>
            <a:r>
              <a:rPr kumimoji="0" lang="en-US" altLang="en-US" sz="1200" b="0" i="0" u="none" strike="noStrike" cap="none" normalizeH="0" baseline="0" dirty="0" err="1">
                <a:ln>
                  <a:noFill/>
                </a:ln>
                <a:solidFill>
                  <a:srgbClr val="000000"/>
                </a:solidFill>
                <a:effectLst/>
                <a:latin typeface="Consolas" panose="020B0609020204030204" pitchFamily="49" charset="0"/>
              </a:rPr>
              <a:t>messageChanged</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708090"/>
                </a:solidFill>
                <a:effectLst/>
                <a:latin typeface="Consolas" panose="020B0609020204030204" pitchFamily="49" charset="0"/>
              </a:rPr>
              <a:t>// this makes message available as a QML property</a:t>
            </a:r>
            <a:br>
              <a:rPr kumimoji="0" lang="en-US" altLang="en-US" sz="1200" b="0" i="0" u="none" strike="noStrike" cap="none" normalizeH="0" baseline="0" dirty="0">
                <a:ln>
                  <a:noFill/>
                </a:ln>
                <a:solidFill>
                  <a:srgbClr val="708090"/>
                </a:solidFill>
                <a:effectLst/>
                <a:latin typeface="Consolas" panose="020B0609020204030204" pitchFamily="49" charset="0"/>
              </a:rPr>
            </a:b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990055"/>
                </a:solidFill>
                <a:effectLst/>
                <a:latin typeface="Consolas" panose="020B0609020204030204" pitchFamily="49" charset="0"/>
              </a:rPr>
              <a:t>public</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err="1">
                <a:ln>
                  <a:noFill/>
                </a:ln>
                <a:solidFill>
                  <a:srgbClr val="000000"/>
                </a:solidFill>
                <a:effectLst/>
                <a:latin typeface="Consolas" panose="020B0609020204030204" pitchFamily="49" charset="0"/>
              </a:rPr>
              <a:t>MyQMLType</a:t>
            </a: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public </a:t>
            </a:r>
            <a:r>
              <a:rPr kumimoji="0" lang="en-US" altLang="en-US" sz="1200" b="0" i="0" u="none" strike="noStrike" cap="none" normalizeH="0" baseline="0" dirty="0">
                <a:ln>
                  <a:noFill/>
                </a:ln>
                <a:solidFill>
                  <a:srgbClr val="990055"/>
                </a:solidFill>
                <a:effectLst/>
                <a:latin typeface="Consolas" panose="020B0609020204030204" pitchFamily="49" charset="0"/>
              </a:rPr>
              <a:t>slots</a:t>
            </a:r>
            <a:r>
              <a:rPr kumimoji="0" lang="en-US" altLang="en-US" sz="1200" b="0" i="0" u="none" strike="noStrike" cap="none" normalizeH="0" baseline="0" dirty="0">
                <a:ln>
                  <a:noFill/>
                </a:ln>
                <a:solidFill>
                  <a:srgbClr val="999999"/>
                </a:solidFill>
                <a:effectLst/>
                <a:latin typeface="Consolas" panose="020B0609020204030204" pitchFamily="49" charset="0"/>
              </a:rPr>
              <a:t>:</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a:ln>
                  <a:noFill/>
                </a:ln>
                <a:solidFill>
                  <a:srgbClr val="708090"/>
                </a:solidFill>
                <a:effectLst/>
                <a:latin typeface="Consolas" panose="020B0609020204030204" pitchFamily="49" charset="0"/>
              </a:rPr>
              <a:t>// slots are public methods available in QML</a:t>
            </a:r>
            <a:br>
              <a:rPr kumimoji="0" lang="en-US" altLang="en-US" sz="1200" b="0" i="0" u="none" strike="noStrike" cap="none" normalizeH="0" baseline="0" dirty="0">
                <a:ln>
                  <a:noFill/>
                </a:ln>
                <a:solidFill>
                  <a:srgbClr val="70809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int increment(int value)</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990055"/>
                </a:solidFill>
                <a:effectLst/>
                <a:latin typeface="Consolas" panose="020B0609020204030204" pitchFamily="49" charset="0"/>
              </a:rPr>
              <a:t>signals</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void </a:t>
            </a:r>
            <a:r>
              <a:rPr kumimoji="0" lang="en-US" altLang="en-US" sz="1200" b="0" i="0" u="none" strike="noStrike" cap="none" normalizeH="0" baseline="0" dirty="0" err="1">
                <a:ln>
                  <a:noFill/>
                </a:ln>
                <a:solidFill>
                  <a:srgbClr val="000000"/>
                </a:solidFill>
                <a:effectLst/>
                <a:latin typeface="Consolas" panose="020B0609020204030204" pitchFamily="49" charset="0"/>
              </a:rPr>
              <a:t>messageChanged</a:t>
            </a:r>
            <a:r>
              <a:rPr kumimoji="0" lang="en-US" altLang="en-US" sz="1200" b="0" i="0" u="none" strike="noStrike" cap="none" normalizeH="0" baseline="0" dirty="0">
                <a:ln>
                  <a:noFill/>
                </a:ln>
                <a:solidFill>
                  <a:srgbClr val="000000"/>
                </a:solidFill>
                <a:effectLst/>
                <a:latin typeface="Consolas" panose="020B0609020204030204" pitchFamily="49" charset="0"/>
              </a:rPr>
              <a:t>()</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990055"/>
                </a:solidFill>
                <a:effectLst/>
                <a:latin typeface="Consolas" panose="020B0609020204030204" pitchFamily="49" charset="0"/>
              </a:rPr>
              <a:t>public</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err="1">
                <a:ln>
                  <a:noFill/>
                </a:ln>
                <a:solidFill>
                  <a:srgbClr val="000000"/>
                </a:solidFill>
                <a:effectLst/>
                <a:latin typeface="Consolas" panose="020B0609020204030204" pitchFamily="49" charset="0"/>
              </a:rPr>
              <a:t>QString</a:t>
            </a:r>
            <a:r>
              <a:rPr kumimoji="0" lang="en-US" altLang="en-US" sz="1200" b="0" i="0" u="none" strike="noStrike" cap="none" normalizeH="0" baseline="0" dirty="0">
                <a:ln>
                  <a:noFill/>
                </a:ln>
                <a:solidFill>
                  <a:srgbClr val="000000"/>
                </a:solidFill>
                <a:effectLst/>
                <a:latin typeface="Consolas" panose="020B0609020204030204" pitchFamily="49" charset="0"/>
              </a:rPr>
              <a:t> message() const</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void </a:t>
            </a:r>
            <a:r>
              <a:rPr kumimoji="0" lang="en-US" altLang="en-US" sz="1200" b="0" i="0" u="none" strike="noStrike" cap="none" normalizeH="0" baseline="0" dirty="0" err="1">
                <a:ln>
                  <a:noFill/>
                </a:ln>
                <a:solidFill>
                  <a:srgbClr val="000000"/>
                </a:solidFill>
                <a:effectLst/>
                <a:latin typeface="Consolas" panose="020B0609020204030204" pitchFamily="49" charset="0"/>
              </a:rPr>
              <a:t>setMessage</a:t>
            </a:r>
            <a:r>
              <a:rPr kumimoji="0" lang="en-US" altLang="en-US" sz="1200" b="0" i="0" u="none" strike="noStrike" cap="none" normalizeH="0" baseline="0" dirty="0">
                <a:ln>
                  <a:noFill/>
                </a:ln>
                <a:solidFill>
                  <a:srgbClr val="000000"/>
                </a:solidFill>
                <a:effectLst/>
                <a:latin typeface="Consolas" panose="020B0609020204030204" pitchFamily="49" charset="0"/>
              </a:rPr>
              <a:t>(const </a:t>
            </a:r>
            <a:r>
              <a:rPr kumimoji="0" lang="en-US" altLang="en-US" sz="1200" b="0" i="0" u="none" strike="noStrike" cap="none" normalizeH="0" baseline="0" dirty="0" err="1">
                <a:ln>
                  <a:noFill/>
                </a:ln>
                <a:solidFill>
                  <a:srgbClr val="000000"/>
                </a:solidFill>
                <a:effectLst/>
                <a:latin typeface="Consolas" panose="020B0609020204030204" pitchFamily="49" charset="0"/>
              </a:rPr>
              <a:t>QString</a:t>
            </a:r>
            <a:r>
              <a:rPr kumimoji="0" lang="en-US" altLang="en-US" sz="1200" b="0" i="0" u="none" strike="noStrike" cap="none" normalizeH="0" baseline="0" dirty="0">
                <a:ln>
                  <a:noFill/>
                </a:ln>
                <a:solidFill>
                  <a:srgbClr val="A67F59"/>
                </a:solidFill>
                <a:effectLst/>
                <a:latin typeface="Consolas" panose="020B0609020204030204" pitchFamily="49" charset="0"/>
              </a:rPr>
              <a:t>&amp;</a:t>
            </a:r>
            <a:r>
              <a:rPr kumimoji="0" lang="en-US" altLang="en-US" sz="1200" b="0" i="0" u="none" strike="noStrike" cap="none" normalizeH="0" baseline="0" dirty="0">
                <a:ln>
                  <a:noFill/>
                </a:ln>
                <a:solidFill>
                  <a:srgbClr val="000000"/>
                </a:solidFill>
                <a:effectLst/>
                <a:latin typeface="Consolas" panose="020B0609020204030204" pitchFamily="49" charset="0"/>
              </a:rPr>
              <a:t> value)</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990055"/>
                </a:solidFill>
                <a:effectLst/>
                <a:latin typeface="Consolas" panose="020B0609020204030204" pitchFamily="49" charset="0"/>
              </a:rPr>
              <a:t>private</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err="1">
                <a:ln>
                  <a:noFill/>
                </a:ln>
                <a:solidFill>
                  <a:srgbClr val="000000"/>
                </a:solidFill>
                <a:effectLst/>
                <a:latin typeface="Consolas" panose="020B0609020204030204" pitchFamily="49" charset="0"/>
              </a:rPr>
              <a:t>QString</a:t>
            </a:r>
            <a:r>
              <a:rPr kumimoji="0" lang="en-US" altLang="en-US" sz="1200" b="0" i="0" u="none" strike="noStrike" cap="none" normalizeH="0" baseline="0" dirty="0">
                <a:ln>
                  <a:noFill/>
                </a:ln>
                <a:solidFill>
                  <a:srgbClr val="000000"/>
                </a:solidFill>
                <a:effectLst/>
                <a:latin typeface="Consolas" panose="020B0609020204030204" pitchFamily="49" charset="0"/>
              </a:rPr>
              <a:t> </a:t>
            </a:r>
            <a:r>
              <a:rPr kumimoji="0" lang="en-US" altLang="en-US" sz="1200" b="0" i="0" u="none" strike="noStrike" cap="none" normalizeH="0" baseline="0" dirty="0" err="1">
                <a:ln>
                  <a:noFill/>
                </a:ln>
                <a:solidFill>
                  <a:srgbClr val="000000"/>
                </a:solidFill>
                <a:effectLst/>
                <a:latin typeface="Consolas" panose="020B0609020204030204" pitchFamily="49" charset="0"/>
              </a:rPr>
              <a:t>m_message</a:t>
            </a: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999999"/>
                </a:solidFill>
                <a:effectLst/>
                <a:latin typeface="Consolas" panose="020B0609020204030204" pitchFamily="49" charset="0"/>
              </a:rPr>
              <a:t>};</a:t>
            </a:r>
            <a:br>
              <a:rPr kumimoji="0" lang="en-US" altLang="en-US" sz="1200" b="0" i="0" u="none" strike="noStrike" cap="none" normalizeH="0" baseline="0" dirty="0">
                <a:ln>
                  <a:noFill/>
                </a:ln>
                <a:solidFill>
                  <a:srgbClr val="000000"/>
                </a:solidFill>
                <a:effectLst/>
                <a:latin typeface="Consolas" panose="020B0609020204030204" pitchFamily="49" charset="0"/>
              </a:rPr>
            </a:br>
            <a:br>
              <a:rPr kumimoji="0" lang="en-US" altLang="en-US" sz="1200" b="0" i="0" u="none" strike="noStrike" cap="none" normalizeH="0" baseline="0" dirty="0">
                <a:ln>
                  <a:noFill/>
                </a:ln>
                <a:solidFill>
                  <a:srgbClr val="000000"/>
                </a:solidFill>
                <a:effectLst/>
                <a:latin typeface="Consolas" panose="020B0609020204030204" pitchFamily="49" charset="0"/>
              </a:rPr>
            </a:br>
            <a:r>
              <a:rPr kumimoji="0" lang="en-US" altLang="en-US" sz="1200" b="0" i="0" u="none" strike="noStrike" cap="none" normalizeH="0" baseline="0" dirty="0">
                <a:ln>
                  <a:noFill/>
                </a:ln>
                <a:solidFill>
                  <a:srgbClr val="000000"/>
                </a:solidFill>
                <a:effectLst/>
                <a:latin typeface="Consolas" panose="020B0609020204030204" pitchFamily="49" charset="0"/>
              </a:rPr>
              <a:t>#endif </a:t>
            </a:r>
            <a:r>
              <a:rPr kumimoji="0" lang="en-US" altLang="en-US" sz="1200" b="0" i="0" u="none" strike="noStrike" cap="none" normalizeH="0" baseline="0" dirty="0">
                <a:ln>
                  <a:noFill/>
                </a:ln>
                <a:solidFill>
                  <a:srgbClr val="708090"/>
                </a:solidFill>
                <a:effectLst/>
                <a:latin typeface="Consolas" panose="020B0609020204030204" pitchFamily="49" charset="0"/>
              </a:rPr>
              <a:t>// MYQMLTYPE_H</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3150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Register C++ Class as a QML Type</a:t>
            </a:r>
          </a:p>
        </p:txBody>
      </p:sp>
      <p:sp>
        <p:nvSpPr>
          <p:cNvPr id="84" name="Google Shape;84;p3"/>
          <p:cNvSpPr txBox="1">
            <a:spLocks noGrp="1"/>
          </p:cNvSpPr>
          <p:nvPr>
            <p:ph type="body" idx="1"/>
          </p:nvPr>
        </p:nvSpPr>
        <p:spPr>
          <a:xfrm>
            <a:off x="436599" y="1296867"/>
            <a:ext cx="10313461" cy="5305417"/>
          </a:xfrm>
          <a:prstGeom prst="rect">
            <a:avLst/>
          </a:prstGeom>
          <a:noFill/>
          <a:ln>
            <a:noFill/>
          </a:ln>
        </p:spPr>
        <p:txBody>
          <a:bodyPr spcFirstLastPara="1" wrap="square" lIns="68575" tIns="34275" rIns="68575" bIns="34275" anchor="t" anchorCtr="0">
            <a:noAutofit/>
          </a:bodyPr>
          <a:lstStyle/>
          <a:p>
            <a:pPr indent="-457200" algn="just">
              <a:lnSpc>
                <a:spcPct val="100000"/>
              </a:lnSpc>
              <a:buSzPts val="1400"/>
              <a:buFont typeface="+mj-lt"/>
              <a:buAutoNum type="arabicPeriod" startAt="3"/>
            </a:pPr>
            <a:r>
              <a:rPr lang="en-US" dirty="0"/>
              <a:t>To complete the class, add the following code for myqmltype.cpp:</a:t>
            </a:r>
            <a:endParaRPr lang="en-US" sz="1800" dirty="0"/>
          </a:p>
        </p:txBody>
      </p:sp>
      <p:sp>
        <p:nvSpPr>
          <p:cNvPr id="3" name="Rectangle 1">
            <a:extLst>
              <a:ext uri="{FF2B5EF4-FFF2-40B4-BE49-F238E27FC236}">
                <a16:creationId xmlns:a16="http://schemas.microsoft.com/office/drawing/2014/main" id="{4F0274CE-7F97-46B9-86E2-42CEB12E15E8}"/>
              </a:ext>
            </a:extLst>
          </p:cNvPr>
          <p:cNvSpPr>
            <a:spLocks noChangeArrowheads="1"/>
          </p:cNvSpPr>
          <p:nvPr/>
        </p:nvSpPr>
        <p:spPr bwMode="auto">
          <a:xfrm>
            <a:off x="1625313" y="1813178"/>
            <a:ext cx="8932983" cy="4789106"/>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91440" rIns="91440" bIns="91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#include </a:t>
            </a:r>
            <a:r>
              <a:rPr kumimoji="0" lang="en-US" altLang="en-US" sz="1400" b="0" i="0" u="none" strike="noStrike" cap="none" normalizeH="0" baseline="0" dirty="0">
                <a:ln>
                  <a:noFill/>
                </a:ln>
                <a:solidFill>
                  <a:srgbClr val="669900"/>
                </a:solidFill>
                <a:effectLst/>
                <a:latin typeface="Consolas" panose="020B0609020204030204" pitchFamily="49" charset="0"/>
              </a:rPr>
              <a:t>"</a:t>
            </a:r>
            <a:r>
              <a:rPr kumimoji="0" lang="en-US" altLang="en-US" sz="1400" b="0" i="0" u="none" strike="noStrike" cap="none" normalizeH="0" baseline="0" dirty="0" err="1">
                <a:ln>
                  <a:noFill/>
                </a:ln>
                <a:solidFill>
                  <a:srgbClr val="669900"/>
                </a:solidFill>
                <a:effectLst/>
                <a:latin typeface="Consolas" panose="020B0609020204030204" pitchFamily="49" charset="0"/>
              </a:rPr>
              <a:t>myqmltype.h</a:t>
            </a:r>
            <a:r>
              <a:rPr kumimoji="0" lang="en-US" altLang="en-US" sz="1400" b="0" i="0" u="none" strike="noStrike" cap="none" normalizeH="0" baseline="0" dirty="0">
                <a:ln>
                  <a:noFill/>
                </a:ln>
                <a:solidFill>
                  <a:srgbClr val="6699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err="1">
                <a:ln>
                  <a:noFill/>
                </a:ln>
                <a:solidFill>
                  <a:srgbClr val="990055"/>
                </a:solidFill>
                <a:effectLst/>
                <a:latin typeface="Consolas" panose="020B0609020204030204" pitchFamily="49" charset="0"/>
              </a:rPr>
              <a:t>MyQMLType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MyQMLType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m_message</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a:ln>
                  <a:noFill/>
                </a:ln>
                <a:solidFill>
                  <a:srgbClr val="6699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int </a:t>
            </a:r>
            <a:r>
              <a:rPr kumimoji="0" lang="en-US" altLang="en-US" sz="1400" b="0" i="0" u="none" strike="noStrike" cap="none" normalizeH="0" baseline="0" dirty="0" err="1">
                <a:ln>
                  <a:noFill/>
                </a:ln>
                <a:solidFill>
                  <a:srgbClr val="990055"/>
                </a:solidFill>
                <a:effectLst/>
                <a:latin typeface="Consolas" panose="020B0609020204030204" pitchFamily="49" charset="0"/>
              </a:rPr>
              <a:t>MyQMLType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increment(int value</a:t>
            </a:r>
            <a:r>
              <a:rPr kumimoji="0" lang="en-US" altLang="en-US" sz="1400" b="0" i="0" u="none" strike="noStrike" cap="none" normalizeH="0" baseline="0" dirty="0">
                <a:ln>
                  <a:noFill/>
                </a:ln>
                <a:solidFill>
                  <a:srgbClr val="6699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77AA"/>
                </a:solidFill>
                <a:effectLst/>
                <a:latin typeface="Consolas" panose="020B0609020204030204" pitchFamily="49" charset="0"/>
              </a:rPr>
              <a:t>return</a:t>
            </a:r>
            <a:r>
              <a:rPr kumimoji="0" lang="en-US" altLang="en-US" sz="1400" b="0" i="0" u="none" strike="noStrike" cap="none" normalizeH="0" baseline="0" dirty="0">
                <a:ln>
                  <a:noFill/>
                </a:ln>
                <a:solidFill>
                  <a:srgbClr val="000000"/>
                </a:solidFill>
                <a:effectLst/>
                <a:latin typeface="Consolas" panose="020B0609020204030204" pitchFamily="49" charset="0"/>
              </a:rPr>
              <a:t> value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0055"/>
                </a:solidFill>
                <a:effectLst/>
                <a:latin typeface="Consolas" panose="020B0609020204030204" pitchFamily="49" charset="0"/>
              </a:rPr>
              <a:t>1</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err="1">
                <a:ln>
                  <a:noFill/>
                </a:ln>
                <a:solidFill>
                  <a:srgbClr val="000000"/>
                </a:solidFill>
                <a:effectLst/>
                <a:latin typeface="Consolas" panose="020B0609020204030204" pitchFamily="49" charset="0"/>
              </a:rPr>
              <a:t>QString</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990055"/>
                </a:solidFill>
                <a:effectLst/>
                <a:latin typeface="Consolas" panose="020B0609020204030204" pitchFamily="49" charset="0"/>
              </a:rPr>
              <a:t>MyQMLType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message(</a:t>
            </a:r>
            <a:r>
              <a:rPr kumimoji="0" lang="en-US" altLang="en-US" sz="1400" b="0" i="0" u="none" strike="noStrike" cap="none" normalizeH="0" baseline="0" dirty="0">
                <a:ln>
                  <a:noFill/>
                </a:ln>
                <a:solidFill>
                  <a:srgbClr val="669900"/>
                </a:solidFill>
                <a:effectLst/>
                <a:latin typeface="Consolas" panose="020B0609020204030204" pitchFamily="49" charset="0"/>
              </a:rPr>
              <a:t>) const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77AA"/>
                </a:solidFill>
                <a:effectLst/>
                <a:latin typeface="Consolas" panose="020B0609020204030204" pitchFamily="49" charset="0"/>
              </a:rPr>
              <a:t>return</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m_message</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void </a:t>
            </a:r>
            <a:r>
              <a:rPr kumimoji="0" lang="en-US" altLang="en-US" sz="1400" b="0" i="0" u="none" strike="noStrike" cap="none" normalizeH="0" baseline="0" dirty="0" err="1">
                <a:ln>
                  <a:noFill/>
                </a:ln>
                <a:solidFill>
                  <a:srgbClr val="990055"/>
                </a:solidFill>
                <a:effectLst/>
                <a:latin typeface="Consolas" panose="020B0609020204030204" pitchFamily="49" charset="0"/>
              </a:rPr>
              <a:t>MyQMLType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setMessage</a:t>
            </a:r>
            <a:r>
              <a:rPr kumimoji="0" lang="en-US" altLang="en-US" sz="1400" b="0" i="0" u="none" strike="noStrike" cap="none" normalizeH="0" baseline="0" dirty="0">
                <a:ln>
                  <a:noFill/>
                </a:ln>
                <a:solidFill>
                  <a:srgbClr val="000000"/>
                </a:solidFill>
                <a:effectLst/>
                <a:latin typeface="Consolas" panose="020B0609020204030204" pitchFamily="49" charset="0"/>
              </a:rPr>
              <a:t>(const </a:t>
            </a:r>
            <a:r>
              <a:rPr kumimoji="0" lang="en-US" altLang="en-US" sz="1400" b="0" i="0" u="none" strike="noStrike" cap="none" normalizeH="0" baseline="0" dirty="0" err="1">
                <a:ln>
                  <a:noFill/>
                </a:ln>
                <a:solidFill>
                  <a:srgbClr val="000000"/>
                </a:solidFill>
                <a:effectLst/>
                <a:latin typeface="Consolas" panose="020B0609020204030204" pitchFamily="49" charset="0"/>
              </a:rPr>
              <a:t>QString</a:t>
            </a:r>
            <a:r>
              <a:rPr kumimoji="0" lang="en-US" altLang="en-US" sz="1400" b="0" i="0" u="none" strike="noStrike" cap="none" normalizeH="0" baseline="0" dirty="0">
                <a:ln>
                  <a:noFill/>
                </a:ln>
                <a:solidFill>
                  <a:srgbClr val="A67F59"/>
                </a:solidFill>
                <a:effectLst/>
                <a:latin typeface="Consolas" panose="020B0609020204030204" pitchFamily="49" charset="0"/>
              </a:rPr>
              <a:t>&amp;</a:t>
            </a:r>
            <a:r>
              <a:rPr kumimoji="0" lang="en-US" altLang="en-US" sz="1400" b="0" i="0" u="none" strike="noStrike" cap="none" normalizeH="0" baseline="0" dirty="0">
                <a:ln>
                  <a:noFill/>
                </a:ln>
                <a:solidFill>
                  <a:srgbClr val="000000"/>
                </a:solidFill>
                <a:effectLst/>
                <a:latin typeface="Consolas" panose="020B0609020204030204" pitchFamily="49" charset="0"/>
              </a:rPr>
              <a:t> value</a:t>
            </a:r>
            <a:r>
              <a:rPr kumimoji="0" lang="en-US" altLang="en-US" sz="1400" b="0" i="0" u="none" strike="noStrike" cap="none" normalizeH="0" baseline="0" dirty="0">
                <a:ln>
                  <a:noFill/>
                </a:ln>
                <a:solidFill>
                  <a:srgbClr val="6699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77AA"/>
                </a:solidFill>
                <a:effectLst/>
                <a:latin typeface="Consolas" panose="020B0609020204030204" pitchFamily="49" charset="0"/>
              </a:rPr>
              <a:t>if</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m_message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value</a:t>
            </a:r>
            <a:r>
              <a:rPr kumimoji="0" lang="en-US" altLang="en-US" sz="1400" b="0" i="0" u="none" strike="noStrike" cap="none" normalizeH="0" baseline="0" dirty="0">
                <a:ln>
                  <a:noFill/>
                </a:ln>
                <a:solidFill>
                  <a:srgbClr val="6699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err="1">
                <a:ln>
                  <a:noFill/>
                </a:ln>
                <a:solidFill>
                  <a:srgbClr val="000000"/>
                </a:solidFill>
                <a:effectLst/>
                <a:latin typeface="Consolas" panose="020B0609020204030204" pitchFamily="49" charset="0"/>
              </a:rPr>
              <a:t>m_message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value</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err="1">
                <a:ln>
                  <a:noFill/>
                </a:ln>
                <a:solidFill>
                  <a:srgbClr val="000000"/>
                </a:solidFill>
                <a:effectLst/>
                <a:latin typeface="Consolas" panose="020B0609020204030204" pitchFamily="49" charset="0"/>
              </a:rPr>
              <a:t>messageChanged</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708090"/>
                </a:solidFill>
                <a:effectLst/>
                <a:latin typeface="Consolas" panose="020B0609020204030204" pitchFamily="49" charset="0"/>
              </a:rPr>
              <a:t>// trigger signal of property change</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89363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Register C++ Class as a QML Type</a:t>
            </a:r>
          </a:p>
        </p:txBody>
      </p:sp>
      <p:sp>
        <p:nvSpPr>
          <p:cNvPr id="84" name="Google Shape;84;p3"/>
          <p:cNvSpPr txBox="1">
            <a:spLocks noGrp="1"/>
          </p:cNvSpPr>
          <p:nvPr>
            <p:ph type="body" idx="1"/>
          </p:nvPr>
        </p:nvSpPr>
        <p:spPr>
          <a:xfrm>
            <a:off x="436599" y="1296867"/>
            <a:ext cx="10313461" cy="5305417"/>
          </a:xfrm>
          <a:prstGeom prst="rect">
            <a:avLst/>
          </a:prstGeom>
          <a:noFill/>
          <a:ln>
            <a:noFill/>
          </a:ln>
        </p:spPr>
        <p:txBody>
          <a:bodyPr spcFirstLastPara="1" wrap="square" lIns="68575" tIns="34275" rIns="68575" bIns="34275" anchor="t" anchorCtr="0">
            <a:noAutofit/>
          </a:bodyPr>
          <a:lstStyle/>
          <a:p>
            <a:pPr indent="-457200" algn="just">
              <a:lnSpc>
                <a:spcPct val="100000"/>
              </a:lnSpc>
              <a:buSzPts val="1400"/>
              <a:buFont typeface="+mj-lt"/>
              <a:buAutoNum type="arabicPeriod" startAt="3"/>
            </a:pPr>
            <a:r>
              <a:rPr lang="en-US" dirty="0"/>
              <a:t>To complete the class, add the following code for myqmltype.cpp:</a:t>
            </a:r>
            <a:endParaRPr lang="en-US" sz="1800" dirty="0"/>
          </a:p>
        </p:txBody>
      </p:sp>
      <p:sp>
        <p:nvSpPr>
          <p:cNvPr id="3" name="Rectangle 1">
            <a:extLst>
              <a:ext uri="{FF2B5EF4-FFF2-40B4-BE49-F238E27FC236}">
                <a16:creationId xmlns:a16="http://schemas.microsoft.com/office/drawing/2014/main" id="{4F0274CE-7F97-46B9-86E2-42CEB12E15E8}"/>
              </a:ext>
            </a:extLst>
          </p:cNvPr>
          <p:cNvSpPr>
            <a:spLocks noChangeArrowheads="1"/>
          </p:cNvSpPr>
          <p:nvPr/>
        </p:nvSpPr>
        <p:spPr bwMode="auto">
          <a:xfrm>
            <a:off x="1625313" y="1813178"/>
            <a:ext cx="8932983" cy="4789106"/>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91440" rIns="91440" bIns="91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#include </a:t>
            </a:r>
            <a:r>
              <a:rPr kumimoji="0" lang="en-US" altLang="en-US" sz="1400" b="0" i="0" u="none" strike="noStrike" cap="none" normalizeH="0" baseline="0" dirty="0">
                <a:ln>
                  <a:noFill/>
                </a:ln>
                <a:solidFill>
                  <a:srgbClr val="669900"/>
                </a:solidFill>
                <a:effectLst/>
                <a:latin typeface="Consolas" panose="020B0609020204030204" pitchFamily="49" charset="0"/>
              </a:rPr>
              <a:t>"</a:t>
            </a:r>
            <a:r>
              <a:rPr kumimoji="0" lang="en-US" altLang="en-US" sz="1400" b="0" i="0" u="none" strike="noStrike" cap="none" normalizeH="0" baseline="0" dirty="0" err="1">
                <a:ln>
                  <a:noFill/>
                </a:ln>
                <a:solidFill>
                  <a:srgbClr val="669900"/>
                </a:solidFill>
                <a:effectLst/>
                <a:latin typeface="Consolas" panose="020B0609020204030204" pitchFamily="49" charset="0"/>
              </a:rPr>
              <a:t>myqmltype.h</a:t>
            </a:r>
            <a:r>
              <a:rPr kumimoji="0" lang="en-US" altLang="en-US" sz="1400" b="0" i="0" u="none" strike="noStrike" cap="none" normalizeH="0" baseline="0" dirty="0">
                <a:ln>
                  <a:noFill/>
                </a:ln>
                <a:solidFill>
                  <a:srgbClr val="6699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err="1">
                <a:ln>
                  <a:noFill/>
                </a:ln>
                <a:solidFill>
                  <a:srgbClr val="990055"/>
                </a:solidFill>
                <a:effectLst/>
                <a:latin typeface="Consolas" panose="020B0609020204030204" pitchFamily="49" charset="0"/>
              </a:rPr>
              <a:t>MyQMLType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MyQMLType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m_message</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a:ln>
                  <a:noFill/>
                </a:ln>
                <a:solidFill>
                  <a:srgbClr val="6699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int </a:t>
            </a:r>
            <a:r>
              <a:rPr kumimoji="0" lang="en-US" altLang="en-US" sz="1400" b="0" i="0" u="none" strike="noStrike" cap="none" normalizeH="0" baseline="0" dirty="0" err="1">
                <a:ln>
                  <a:noFill/>
                </a:ln>
                <a:solidFill>
                  <a:srgbClr val="990055"/>
                </a:solidFill>
                <a:effectLst/>
                <a:latin typeface="Consolas" panose="020B0609020204030204" pitchFamily="49" charset="0"/>
              </a:rPr>
              <a:t>MyQMLType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increment(int value</a:t>
            </a:r>
            <a:r>
              <a:rPr kumimoji="0" lang="en-US" altLang="en-US" sz="1400" b="0" i="0" u="none" strike="noStrike" cap="none" normalizeH="0" baseline="0" dirty="0">
                <a:ln>
                  <a:noFill/>
                </a:ln>
                <a:solidFill>
                  <a:srgbClr val="6699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77AA"/>
                </a:solidFill>
                <a:effectLst/>
                <a:latin typeface="Consolas" panose="020B0609020204030204" pitchFamily="49" charset="0"/>
              </a:rPr>
              <a:t>return</a:t>
            </a:r>
            <a:r>
              <a:rPr kumimoji="0" lang="en-US" altLang="en-US" sz="1400" b="0" i="0" u="none" strike="noStrike" cap="none" normalizeH="0" baseline="0" dirty="0">
                <a:ln>
                  <a:noFill/>
                </a:ln>
                <a:solidFill>
                  <a:srgbClr val="000000"/>
                </a:solidFill>
                <a:effectLst/>
                <a:latin typeface="Consolas" panose="020B0609020204030204" pitchFamily="49" charset="0"/>
              </a:rPr>
              <a:t> value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0055"/>
                </a:solidFill>
                <a:effectLst/>
                <a:latin typeface="Consolas" panose="020B0609020204030204" pitchFamily="49" charset="0"/>
              </a:rPr>
              <a:t>1</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err="1">
                <a:ln>
                  <a:noFill/>
                </a:ln>
                <a:solidFill>
                  <a:srgbClr val="000000"/>
                </a:solidFill>
                <a:effectLst/>
                <a:latin typeface="Consolas" panose="020B0609020204030204" pitchFamily="49" charset="0"/>
              </a:rPr>
              <a:t>QString</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990055"/>
                </a:solidFill>
                <a:effectLst/>
                <a:latin typeface="Consolas" panose="020B0609020204030204" pitchFamily="49" charset="0"/>
              </a:rPr>
              <a:t>MyQMLType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message(</a:t>
            </a:r>
            <a:r>
              <a:rPr kumimoji="0" lang="en-US" altLang="en-US" sz="1400" b="0" i="0" u="none" strike="noStrike" cap="none" normalizeH="0" baseline="0" dirty="0">
                <a:ln>
                  <a:noFill/>
                </a:ln>
                <a:solidFill>
                  <a:srgbClr val="669900"/>
                </a:solidFill>
                <a:effectLst/>
                <a:latin typeface="Consolas" panose="020B0609020204030204" pitchFamily="49" charset="0"/>
              </a:rPr>
              <a:t>) const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77AA"/>
                </a:solidFill>
                <a:effectLst/>
                <a:latin typeface="Consolas" panose="020B0609020204030204" pitchFamily="49" charset="0"/>
              </a:rPr>
              <a:t>return</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m_message</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0000"/>
                </a:solidFill>
                <a:effectLst/>
                <a:latin typeface="Consolas" panose="020B0609020204030204" pitchFamily="49" charset="0"/>
              </a:rPr>
              <a:t>void </a:t>
            </a:r>
            <a:r>
              <a:rPr kumimoji="0" lang="en-US" altLang="en-US" sz="1400" b="0" i="0" u="none" strike="noStrike" cap="none" normalizeH="0" baseline="0" dirty="0" err="1">
                <a:ln>
                  <a:noFill/>
                </a:ln>
                <a:solidFill>
                  <a:srgbClr val="990055"/>
                </a:solidFill>
                <a:effectLst/>
                <a:latin typeface="Consolas" panose="020B0609020204030204" pitchFamily="49" charset="0"/>
              </a:rPr>
              <a:t>MyQMLType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setMessage</a:t>
            </a:r>
            <a:r>
              <a:rPr kumimoji="0" lang="en-US" altLang="en-US" sz="1400" b="0" i="0" u="none" strike="noStrike" cap="none" normalizeH="0" baseline="0" dirty="0">
                <a:ln>
                  <a:noFill/>
                </a:ln>
                <a:solidFill>
                  <a:srgbClr val="000000"/>
                </a:solidFill>
                <a:effectLst/>
                <a:latin typeface="Consolas" panose="020B0609020204030204" pitchFamily="49" charset="0"/>
              </a:rPr>
              <a:t>(const </a:t>
            </a:r>
            <a:r>
              <a:rPr kumimoji="0" lang="en-US" altLang="en-US" sz="1400" b="0" i="0" u="none" strike="noStrike" cap="none" normalizeH="0" baseline="0" dirty="0" err="1">
                <a:ln>
                  <a:noFill/>
                </a:ln>
                <a:solidFill>
                  <a:srgbClr val="000000"/>
                </a:solidFill>
                <a:effectLst/>
                <a:latin typeface="Consolas" panose="020B0609020204030204" pitchFamily="49" charset="0"/>
              </a:rPr>
              <a:t>QString</a:t>
            </a:r>
            <a:r>
              <a:rPr kumimoji="0" lang="en-US" altLang="en-US" sz="1400" b="0" i="0" u="none" strike="noStrike" cap="none" normalizeH="0" baseline="0" dirty="0">
                <a:ln>
                  <a:noFill/>
                </a:ln>
                <a:solidFill>
                  <a:srgbClr val="A67F59"/>
                </a:solidFill>
                <a:effectLst/>
                <a:latin typeface="Consolas" panose="020B0609020204030204" pitchFamily="49" charset="0"/>
              </a:rPr>
              <a:t>&amp;</a:t>
            </a:r>
            <a:r>
              <a:rPr kumimoji="0" lang="en-US" altLang="en-US" sz="1400" b="0" i="0" u="none" strike="noStrike" cap="none" normalizeH="0" baseline="0" dirty="0">
                <a:ln>
                  <a:noFill/>
                </a:ln>
                <a:solidFill>
                  <a:srgbClr val="000000"/>
                </a:solidFill>
                <a:effectLst/>
                <a:latin typeface="Consolas" panose="020B0609020204030204" pitchFamily="49" charset="0"/>
              </a:rPr>
              <a:t> value</a:t>
            </a:r>
            <a:r>
              <a:rPr kumimoji="0" lang="en-US" altLang="en-US" sz="1400" b="0" i="0" u="none" strike="noStrike" cap="none" normalizeH="0" baseline="0" dirty="0">
                <a:ln>
                  <a:noFill/>
                </a:ln>
                <a:solidFill>
                  <a:srgbClr val="6699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77AA"/>
                </a:solidFill>
                <a:effectLst/>
                <a:latin typeface="Consolas" panose="020B0609020204030204" pitchFamily="49" charset="0"/>
              </a:rPr>
              <a:t>if</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m_message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value</a:t>
            </a:r>
            <a:r>
              <a:rPr kumimoji="0" lang="en-US" altLang="en-US" sz="1400" b="0" i="0" u="none" strike="noStrike" cap="none" normalizeH="0" baseline="0" dirty="0">
                <a:ln>
                  <a:noFill/>
                </a:ln>
                <a:solidFill>
                  <a:srgbClr val="6699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err="1">
                <a:ln>
                  <a:noFill/>
                </a:ln>
                <a:solidFill>
                  <a:srgbClr val="000000"/>
                </a:solidFill>
                <a:effectLst/>
                <a:latin typeface="Consolas" panose="020B0609020204030204" pitchFamily="49" charset="0"/>
              </a:rPr>
              <a:t>m_message</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value</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err="1">
                <a:ln>
                  <a:noFill/>
                </a:ln>
                <a:solidFill>
                  <a:srgbClr val="000000"/>
                </a:solidFill>
                <a:effectLst/>
                <a:latin typeface="Consolas" panose="020B0609020204030204" pitchFamily="49" charset="0"/>
              </a:rPr>
              <a:t>messageChanged</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708090"/>
                </a:solidFill>
                <a:effectLst/>
                <a:latin typeface="Consolas" panose="020B0609020204030204" pitchFamily="49" charset="0"/>
              </a:rPr>
              <a:t>// trigger signal of property change</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2069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Access a C++ Object from QML</a:t>
            </a:r>
          </a:p>
        </p:txBody>
      </p:sp>
      <p:sp>
        <p:nvSpPr>
          <p:cNvPr id="84" name="Google Shape;84;p3"/>
          <p:cNvSpPr txBox="1">
            <a:spLocks noGrp="1"/>
          </p:cNvSpPr>
          <p:nvPr>
            <p:ph type="body" idx="1"/>
          </p:nvPr>
        </p:nvSpPr>
        <p:spPr>
          <a:xfrm>
            <a:off x="436600" y="1296867"/>
            <a:ext cx="11310400" cy="5305417"/>
          </a:xfrm>
          <a:prstGeom prst="rect">
            <a:avLst/>
          </a:prstGeom>
          <a:noFill/>
          <a:ln>
            <a:noFill/>
          </a:ln>
        </p:spPr>
        <p:txBody>
          <a:bodyPr spcFirstLastPara="1" wrap="square" lIns="68575" tIns="34275" rIns="68575" bIns="34275" anchor="t" anchorCtr="0">
            <a:noAutofit/>
          </a:bodyPr>
          <a:lstStyle/>
          <a:p>
            <a:pPr marL="342900" lvl="0" indent="-342900">
              <a:lnSpc>
                <a:spcPct val="100000"/>
              </a:lnSpc>
              <a:buSzPts val="1400"/>
              <a:buFont typeface="Wingdings" panose="05000000000000000000" pitchFamily="2" charset="2"/>
              <a:buChar char="q"/>
            </a:pPr>
            <a:r>
              <a:rPr lang="en-US" b="1" dirty="0"/>
              <a:t>Register and Use your C++ QML Type</a:t>
            </a:r>
          </a:p>
          <a:p>
            <a:pPr lvl="0" indent="-457200">
              <a:lnSpc>
                <a:spcPct val="100000"/>
              </a:lnSpc>
              <a:buSzPts val="1400"/>
              <a:buAutoNum type="arabicPeriod"/>
            </a:pPr>
            <a:r>
              <a:rPr lang="en-US" dirty="0"/>
              <a:t>In your main.cpp, first add an include statement for the new class</a:t>
            </a:r>
          </a:p>
          <a:p>
            <a:pPr lvl="0" indent="-457200">
              <a:lnSpc>
                <a:spcPct val="100000"/>
              </a:lnSpc>
              <a:buSzPts val="1400"/>
              <a:buAutoNum type="arabicPeriod"/>
            </a:pPr>
            <a:r>
              <a:rPr lang="en-US" dirty="0"/>
              <a:t>Then use </a:t>
            </a:r>
            <a:r>
              <a:rPr lang="en-US" dirty="0" err="1"/>
              <a:t>qmlRegisterType</a:t>
            </a:r>
            <a:r>
              <a:rPr lang="en-US" dirty="0"/>
              <a:t> to add the class as a QML Type:</a:t>
            </a:r>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marL="0" lvl="0" indent="0">
              <a:lnSpc>
                <a:spcPct val="100000"/>
              </a:lnSpc>
              <a:buSzPts val="1400"/>
            </a:pPr>
            <a:r>
              <a:rPr lang="en-US" sz="1600" i="1" dirty="0"/>
              <a:t>The method takes several parameters: The module identifier and version define the required QML import to use the type. The last parameter holds the name of the QML type, which can be different from the actual C++ class name.</a:t>
            </a:r>
          </a:p>
        </p:txBody>
      </p:sp>
      <p:sp>
        <p:nvSpPr>
          <p:cNvPr id="2" name="Rectangle 1">
            <a:extLst>
              <a:ext uri="{FF2B5EF4-FFF2-40B4-BE49-F238E27FC236}">
                <a16:creationId xmlns:a16="http://schemas.microsoft.com/office/drawing/2014/main" id="{A783A781-DDEF-46FA-A623-00957BCD9A8F}"/>
              </a:ext>
            </a:extLst>
          </p:cNvPr>
          <p:cNvSpPr>
            <a:spLocks noChangeArrowheads="1"/>
          </p:cNvSpPr>
          <p:nvPr/>
        </p:nvSpPr>
        <p:spPr bwMode="auto">
          <a:xfrm>
            <a:off x="949570" y="2489031"/>
            <a:ext cx="7045568" cy="2769989"/>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91440" rIns="91440" bIns="9144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#include "</a:t>
            </a:r>
            <a:r>
              <a:rPr kumimoji="0" lang="en-US" altLang="en-US" sz="1400" b="0" i="0" u="none" strike="noStrike" cap="none" normalizeH="0" baseline="0" dirty="0" err="1">
                <a:ln>
                  <a:noFill/>
                </a:ln>
                <a:solidFill>
                  <a:srgbClr val="000000"/>
                </a:solidFill>
                <a:effectLst/>
                <a:latin typeface="Consolas" panose="020B0609020204030204" pitchFamily="49" charset="0"/>
              </a:rPr>
              <a:t>myqmltype.h</a:t>
            </a:r>
            <a:r>
              <a:rPr kumimoji="0" lang="en-US" altLang="en-US" sz="1400" b="0" i="0" u="none" strike="noStrike" cap="none" normalizeH="0" baseline="0" dirty="0">
                <a:ln>
                  <a:noFill/>
                </a:ln>
                <a:solidFill>
                  <a:srgbClr val="000000"/>
                </a:solidFill>
                <a:effectLst/>
                <a:latin typeface="Consolas" panose="020B060902020403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int main(int </a:t>
            </a:r>
            <a:r>
              <a:rPr kumimoji="0" lang="en-US" altLang="en-US" sz="1400" b="0" i="0" u="none" strike="noStrike" cap="none" normalizeH="0" baseline="0" dirty="0" err="1">
                <a:ln>
                  <a:noFill/>
                </a:ln>
                <a:solidFill>
                  <a:srgbClr val="000000"/>
                </a:solidFill>
                <a:effectLst/>
                <a:latin typeface="Consolas" panose="020B0609020204030204" pitchFamily="49" charset="0"/>
              </a:rPr>
              <a:t>argc</a:t>
            </a:r>
            <a:r>
              <a:rPr kumimoji="0" lang="en-US" altLang="en-US" sz="1400" b="0" i="0" u="none" strike="noStrike" cap="none" normalizeH="0" baseline="0" dirty="0">
                <a:ln>
                  <a:noFill/>
                </a:ln>
                <a:solidFill>
                  <a:srgbClr val="000000"/>
                </a:solidFill>
                <a:effectLst/>
                <a:latin typeface="Consolas" panose="020B0609020204030204" pitchFamily="49" charset="0"/>
              </a:rPr>
              <a:t>, char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argv</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a:ln>
                  <a:noFill/>
                </a:ln>
                <a:solidFill>
                  <a:srgbClr val="6699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a:t>
            </a:r>
            <a:br>
              <a:rPr kumimoji="0" lang="en-US" altLang="en-US" sz="1400" b="0" i="0" u="none" strike="noStrike" cap="none" normalizeH="0" baseline="0" dirty="0">
                <a:ln>
                  <a:noFill/>
                </a:ln>
                <a:solidFill>
                  <a:srgbClr val="70809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register a QML type made with C++</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err="1">
                <a:ln>
                  <a:noFill/>
                </a:ln>
                <a:solidFill>
                  <a:srgbClr val="000000"/>
                </a:solidFill>
                <a:effectLst/>
                <a:latin typeface="Consolas" panose="020B0609020204030204" pitchFamily="49" charset="0"/>
              </a:rPr>
              <a:t>qmlRegisterType</a:t>
            </a:r>
            <a:r>
              <a:rPr kumimoji="0" lang="en-US" altLang="en-US" sz="1400" b="0" i="0" u="none" strike="noStrike" cap="none" normalizeH="0" baseline="0" dirty="0">
                <a:ln>
                  <a:noFill/>
                </a:ln>
                <a:solidFill>
                  <a:srgbClr val="A67F59"/>
                </a:solidFill>
                <a:effectLst/>
                <a:latin typeface="Consolas" panose="020B0609020204030204" pitchFamily="49" charset="0"/>
              </a:rPr>
              <a:t>&lt;</a:t>
            </a:r>
            <a:r>
              <a:rPr kumimoji="0" lang="en-US" altLang="en-US" sz="1400" b="0" i="0" u="none" strike="noStrike" cap="none" normalizeH="0" baseline="0" dirty="0" err="1">
                <a:ln>
                  <a:noFill/>
                </a:ln>
                <a:solidFill>
                  <a:srgbClr val="000000"/>
                </a:solidFill>
                <a:effectLst/>
                <a:latin typeface="Consolas" panose="020B0609020204030204" pitchFamily="49" charset="0"/>
              </a:rPr>
              <a:t>MyQMLType</a:t>
            </a:r>
            <a:r>
              <a:rPr kumimoji="0" lang="en-US" altLang="en-US" sz="1400" b="0" i="0" u="none" strike="noStrike" cap="none" normalizeH="0" baseline="0" dirty="0">
                <a:ln>
                  <a:noFill/>
                </a:ln>
                <a:solidFill>
                  <a:srgbClr val="A67F59"/>
                </a:solidFill>
                <a:effectLst/>
                <a:latin typeface="Consolas" panose="020B0609020204030204" pitchFamily="49" charset="0"/>
              </a:rPr>
              <a:t>&gt;</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a:ln>
                  <a:noFill/>
                </a:ln>
                <a:solidFill>
                  <a:srgbClr val="669900"/>
                </a:solidFill>
                <a:effectLst/>
                <a:latin typeface="Consolas" panose="020B0609020204030204" pitchFamily="49" charset="0"/>
              </a:rPr>
              <a:t>"</a:t>
            </a:r>
            <a:r>
              <a:rPr kumimoji="0" lang="en-US" altLang="en-US" sz="1400" b="0" i="0" u="none" strike="noStrike" cap="none" normalizeH="0" baseline="0" dirty="0" err="1">
                <a:ln>
                  <a:noFill/>
                </a:ln>
                <a:solidFill>
                  <a:srgbClr val="669900"/>
                </a:solidFill>
                <a:effectLst/>
                <a:latin typeface="Consolas" panose="020B0609020204030204" pitchFamily="49" charset="0"/>
              </a:rPr>
              <a:t>com.yourcompany.xyz</a:t>
            </a:r>
            <a:r>
              <a:rPr kumimoji="0" lang="en-US" altLang="en-US" sz="1400" b="0" i="0" u="none" strike="noStrike" cap="none" normalizeH="0" baseline="0" dirty="0">
                <a:ln>
                  <a:noFill/>
                </a:ln>
                <a:solidFill>
                  <a:srgbClr val="669900"/>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0055"/>
                </a:solidFill>
                <a:effectLst/>
                <a:latin typeface="Consolas" panose="020B0609020204030204" pitchFamily="49" charset="0"/>
              </a:rPr>
              <a:t>1</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0055"/>
                </a:solidFill>
                <a:effectLst/>
                <a:latin typeface="Consolas" panose="020B0609020204030204" pitchFamily="49" charset="0"/>
              </a:rPr>
              <a:t>0</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669900"/>
                </a:solidFill>
                <a:effectLst/>
                <a:latin typeface="Consolas" panose="020B0609020204030204" pitchFamily="49" charset="0"/>
              </a:rPr>
              <a:t>"</a:t>
            </a:r>
            <a:r>
              <a:rPr kumimoji="0" lang="en-US" altLang="en-US" sz="1400" b="0" i="0" u="none" strike="noStrike" cap="none" normalizeH="0" baseline="0" dirty="0" err="1">
                <a:ln>
                  <a:noFill/>
                </a:ln>
                <a:solidFill>
                  <a:srgbClr val="669900"/>
                </a:solidFill>
                <a:effectLst/>
                <a:latin typeface="Consolas" panose="020B0609020204030204" pitchFamily="49" charset="0"/>
              </a:rPr>
              <a:t>MyQMLType</a:t>
            </a:r>
            <a:r>
              <a:rPr kumimoji="0" lang="en-US" altLang="en-US" sz="1400" b="0" i="0" u="none" strike="noStrike" cap="none" normalizeH="0" baseline="0" dirty="0">
                <a:ln>
                  <a:noFill/>
                </a:ln>
                <a:solidFill>
                  <a:srgbClr val="669900"/>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708090"/>
                </a:solidFill>
                <a:effectLst/>
                <a:latin typeface="Consolas" panose="020B0609020204030204" pitchFamily="49" charset="0"/>
              </a:rPr>
              <a:t>// </a:t>
            </a:r>
            <a:r>
              <a:rPr kumimoji="0" lang="en-US" altLang="en-US" sz="1400" b="0" i="0" u="none" strike="noStrike" cap="none" normalizeH="0" baseline="0" dirty="0" err="1">
                <a:ln>
                  <a:noFill/>
                </a:ln>
                <a:solidFill>
                  <a:srgbClr val="708090"/>
                </a:solidFill>
                <a:effectLst/>
                <a:latin typeface="Consolas" panose="020B0609020204030204" pitchFamily="49" charset="0"/>
              </a:rPr>
              <a:t>MyQMLType</a:t>
            </a:r>
            <a:r>
              <a:rPr kumimoji="0" lang="en-US" altLang="en-US" sz="1400" b="0" i="0" u="none" strike="noStrike" cap="none" normalizeH="0" baseline="0" dirty="0">
                <a:ln>
                  <a:noFill/>
                </a:ln>
                <a:solidFill>
                  <a:srgbClr val="708090"/>
                </a:solidFill>
                <a:effectLst/>
                <a:latin typeface="Consolas" panose="020B0609020204030204" pitchFamily="49" charset="0"/>
              </a:rPr>
              <a:t> will be usable with: import </a:t>
            </a:r>
            <a:r>
              <a:rPr kumimoji="0" lang="en-US" altLang="en-US" sz="1400" b="0" i="0" u="none" strike="noStrike" cap="none" normalizeH="0" baseline="0" dirty="0" err="1">
                <a:ln>
                  <a:noFill/>
                </a:ln>
                <a:solidFill>
                  <a:srgbClr val="708090"/>
                </a:solidFill>
                <a:effectLst/>
                <a:latin typeface="Consolas" panose="020B0609020204030204" pitchFamily="49" charset="0"/>
              </a:rPr>
              <a:t>com.yourcompany.xyz</a:t>
            </a:r>
            <a:r>
              <a:rPr kumimoji="0" lang="en-US" altLang="en-US" sz="1400" b="0" i="0" u="none" strike="noStrike" cap="none" normalizeH="0" baseline="0" dirty="0">
                <a:ln>
                  <a:noFill/>
                </a:ln>
                <a:solidFill>
                  <a:srgbClr val="708090"/>
                </a:solidFill>
                <a:effectLst/>
                <a:latin typeface="Consolas" panose="020B0609020204030204" pitchFamily="49" charset="0"/>
              </a:rPr>
              <a:t> 1.0</a:t>
            </a:r>
            <a:br>
              <a:rPr kumimoji="0" lang="en-US" altLang="en-US" sz="1400" b="0" i="0" u="none" strike="noStrike" cap="none" normalizeH="0" baseline="0" dirty="0">
                <a:ln>
                  <a:noFill/>
                </a:ln>
                <a:solidFill>
                  <a:srgbClr val="708090"/>
                </a:solidFill>
                <a:effectLst/>
                <a:latin typeface="Consolas" panose="020B0609020204030204" pitchFamily="49" charset="0"/>
              </a:rPr>
            </a:br>
            <a:r>
              <a:rPr lang="en-US" altLang="en-US" sz="1400" dirty="0">
                <a:solidFill>
                  <a:srgbClr val="000000"/>
                </a:solidFill>
                <a:latin typeface="Consolas" panose="020B0609020204030204" pitchFamily="49" charset="0"/>
              </a:rPr>
              <a:t>// …</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0077AA"/>
                </a:solidFill>
                <a:effectLst/>
                <a:latin typeface="Consolas" panose="020B0609020204030204" pitchFamily="49" charset="0"/>
              </a:rPr>
              <a:t>return</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app.exec</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1510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lvl="0"/>
            <a:r>
              <a:rPr lang="en-US" sz="3600" dirty="0"/>
              <a:t>Access a C++ Object from QML</a:t>
            </a:r>
          </a:p>
        </p:txBody>
      </p:sp>
      <p:sp>
        <p:nvSpPr>
          <p:cNvPr id="84" name="Google Shape;84;p3"/>
          <p:cNvSpPr txBox="1">
            <a:spLocks noGrp="1"/>
          </p:cNvSpPr>
          <p:nvPr>
            <p:ph type="body" idx="1"/>
          </p:nvPr>
        </p:nvSpPr>
        <p:spPr>
          <a:xfrm>
            <a:off x="436600" y="1296867"/>
            <a:ext cx="11310400" cy="5305417"/>
          </a:xfrm>
          <a:prstGeom prst="rect">
            <a:avLst/>
          </a:prstGeom>
          <a:noFill/>
          <a:ln>
            <a:noFill/>
          </a:ln>
        </p:spPr>
        <p:txBody>
          <a:bodyPr spcFirstLastPara="1" wrap="square" lIns="68575" tIns="34275" rIns="68575" bIns="34275" anchor="t" anchorCtr="0">
            <a:noAutofit/>
          </a:bodyPr>
          <a:lstStyle/>
          <a:p>
            <a:pPr marL="342900" lvl="0" indent="-342900">
              <a:lnSpc>
                <a:spcPct val="100000"/>
              </a:lnSpc>
              <a:buSzPts val="1400"/>
              <a:buFont typeface="Wingdings" panose="05000000000000000000" pitchFamily="2" charset="2"/>
              <a:buChar char="q"/>
            </a:pPr>
            <a:r>
              <a:rPr lang="en-US" b="1" dirty="0"/>
              <a:t>Register and Use your C++ QML Type</a:t>
            </a:r>
          </a:p>
          <a:p>
            <a:pPr lvl="0" indent="-457200">
              <a:lnSpc>
                <a:spcPct val="100000"/>
              </a:lnSpc>
              <a:buSzPts val="1400"/>
              <a:buAutoNum type="arabicPeriod"/>
            </a:pPr>
            <a:r>
              <a:rPr lang="en-US" dirty="0"/>
              <a:t>Add the import which matches the used configuration of </a:t>
            </a:r>
            <a:r>
              <a:rPr lang="en-US" dirty="0" err="1"/>
              <a:t>qmlRegisterType</a:t>
            </a:r>
            <a:r>
              <a:rPr lang="en-US" dirty="0"/>
              <a:t> to your </a:t>
            </a:r>
            <a:r>
              <a:rPr lang="en-US" dirty="0" err="1"/>
              <a:t>Main.qml</a:t>
            </a:r>
            <a:r>
              <a:rPr lang="en-US" dirty="0"/>
              <a:t>:</a:t>
            </a:r>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endParaRPr lang="en-US" dirty="0"/>
          </a:p>
          <a:p>
            <a:pPr lvl="0" indent="-457200">
              <a:lnSpc>
                <a:spcPct val="100000"/>
              </a:lnSpc>
              <a:buSzPts val="1400"/>
              <a:buAutoNum type="arabicPeriod"/>
            </a:pPr>
            <a:r>
              <a:rPr lang="en-US" dirty="0"/>
              <a:t>For an example usage of our new QML Type, add the following snippet below the first example:</a:t>
            </a:r>
          </a:p>
          <a:p>
            <a:pPr marL="0" lvl="0" indent="0">
              <a:lnSpc>
                <a:spcPct val="100000"/>
              </a:lnSpc>
              <a:buSzPts val="1400"/>
            </a:pPr>
            <a:endParaRPr lang="en-US" dirty="0"/>
          </a:p>
          <a:p>
            <a:pPr marL="0" lvl="0" indent="0">
              <a:lnSpc>
                <a:spcPct val="100000"/>
              </a:lnSpc>
              <a:buSzPts val="1400"/>
            </a:pPr>
            <a:endParaRPr lang="en-US" dirty="0"/>
          </a:p>
        </p:txBody>
      </p:sp>
      <p:sp>
        <p:nvSpPr>
          <p:cNvPr id="3" name="Rectangle 1">
            <a:extLst>
              <a:ext uri="{FF2B5EF4-FFF2-40B4-BE49-F238E27FC236}">
                <a16:creationId xmlns:a16="http://schemas.microsoft.com/office/drawing/2014/main" id="{CC4D3B60-8A6E-4C09-938C-D11AA24D809D}"/>
              </a:ext>
            </a:extLst>
          </p:cNvPr>
          <p:cNvSpPr>
            <a:spLocks noChangeArrowheads="1"/>
          </p:cNvSpPr>
          <p:nvPr/>
        </p:nvSpPr>
        <p:spPr bwMode="auto">
          <a:xfrm>
            <a:off x="882315" y="2096909"/>
            <a:ext cx="10418970" cy="800219"/>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182880" rIns="91440" bIns="1828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708090"/>
                </a:solidFill>
                <a:effectLst/>
                <a:latin typeface="Consolas" panose="020B0609020204030204" pitchFamily="49" charset="0"/>
              </a:rPr>
              <a:t>// NOTE: the import identifier, version and QML type name are set in main.cpp at </a:t>
            </a:r>
            <a:r>
              <a:rPr kumimoji="0" lang="en-US" altLang="en-US" sz="1400" b="0" i="0" u="none" strike="noStrike" cap="none" normalizeH="0" baseline="0" dirty="0" err="1">
                <a:ln>
                  <a:noFill/>
                </a:ln>
                <a:solidFill>
                  <a:srgbClr val="708090"/>
                </a:solidFill>
                <a:effectLst/>
                <a:latin typeface="Consolas" panose="020B0609020204030204" pitchFamily="49" charset="0"/>
              </a:rPr>
              <a:t>qmlRegisterType</a:t>
            </a:r>
            <a:r>
              <a:rPr kumimoji="0" lang="en-US" altLang="en-US" sz="1400" b="0" i="0" u="none" strike="noStrike" cap="none" normalizeH="0" baseline="0" dirty="0">
                <a:ln>
                  <a:noFill/>
                </a:ln>
                <a:solidFill>
                  <a:srgbClr val="708090"/>
                </a:solidFill>
                <a:effectLst/>
                <a:latin typeface="Consolas" panose="020B0609020204030204" pitchFamily="49" charset="0"/>
              </a:rPr>
              <a:t>(...)</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0077AA"/>
                </a:solidFill>
                <a:effectLst/>
                <a:latin typeface="Consolas" panose="020B0609020204030204" pitchFamily="49" charset="0"/>
              </a:rPr>
              <a:t>import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com.yourcompany.xyz</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0055"/>
                </a:solidFill>
                <a:effectLst/>
                <a:latin typeface="Consolas" panose="020B0609020204030204" pitchFamily="49" charset="0"/>
              </a:rPr>
              <a:t>1.0</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04608935-D8A6-40D6-A6C0-06089A3797BA}"/>
              </a:ext>
            </a:extLst>
          </p:cNvPr>
          <p:cNvSpPr>
            <a:spLocks noChangeArrowheads="1"/>
          </p:cNvSpPr>
          <p:nvPr/>
        </p:nvSpPr>
        <p:spPr bwMode="auto">
          <a:xfrm>
            <a:off x="882315" y="3693736"/>
            <a:ext cx="10418970" cy="2585323"/>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182880" rIns="91440" bIns="1828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669900"/>
                </a:solidFill>
                <a:effectLst/>
                <a:latin typeface="Consolas" panose="020B0609020204030204" pitchFamily="49" charset="0"/>
              </a:rPr>
              <a:t>Page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0055"/>
                </a:solidFill>
                <a:effectLst/>
                <a:latin typeface="Consolas" panose="020B0609020204030204" pitchFamily="49" charset="0"/>
              </a:rPr>
              <a:t>title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669900"/>
                </a:solidFill>
                <a:effectLst/>
                <a:latin typeface="Consolas" panose="020B0609020204030204" pitchFamily="49" charset="0"/>
              </a:rPr>
              <a:t>"Integrate C++ and QML"</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669900"/>
                </a:solidFill>
                <a:effectLst/>
                <a:latin typeface="Consolas" panose="020B0609020204030204" pitchFamily="49" charset="0"/>
              </a:rPr>
              <a:t>Column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 </a:t>
            </a:r>
            <a:br>
              <a:rPr kumimoji="0" lang="en-US" altLang="en-US" sz="1400" b="0" i="0" u="none" strike="noStrike" cap="none" normalizeH="0" baseline="0" dirty="0">
                <a:ln>
                  <a:noFill/>
                </a:ln>
                <a:solidFill>
                  <a:srgbClr val="70809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Example 2: Custom QML Type implemented with C++</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NOTE: This type is declared in main.cpp and available after using "import </a:t>
            </a:r>
            <a:r>
              <a:rPr kumimoji="0" lang="en-US" altLang="en-US" sz="1400" b="0" i="0" u="none" strike="noStrike" cap="none" normalizeH="0" baseline="0" dirty="0" err="1">
                <a:ln>
                  <a:noFill/>
                </a:ln>
                <a:solidFill>
                  <a:srgbClr val="708090"/>
                </a:solidFill>
                <a:effectLst/>
                <a:latin typeface="Consolas" panose="020B0609020204030204" pitchFamily="49" charset="0"/>
              </a:rPr>
              <a:t>com.yourcompany.xyz</a:t>
            </a:r>
            <a:r>
              <a:rPr kumimoji="0" lang="en-US" altLang="en-US" sz="1400" b="0" i="0" u="none" strike="noStrike" cap="none" normalizeH="0" baseline="0" dirty="0">
                <a:ln>
                  <a:noFill/>
                </a:ln>
                <a:solidFill>
                  <a:srgbClr val="708090"/>
                </a:solidFill>
                <a:effectLst/>
                <a:latin typeface="Consolas" panose="020B0609020204030204" pitchFamily="49" charset="0"/>
              </a:rPr>
              <a:t> 1.0"</a:t>
            </a:r>
            <a:br>
              <a:rPr kumimoji="0" lang="en-US" altLang="en-US" sz="1400" b="0" i="0" u="none" strike="noStrike" cap="none" normalizeH="0" baseline="0" dirty="0">
                <a:ln>
                  <a:noFill/>
                </a:ln>
                <a:solidFill>
                  <a:srgbClr val="708090"/>
                </a:solidFill>
                <a:effectLst/>
                <a:latin typeface="Consolas" panose="020B0609020204030204" pitchFamily="49" charset="0"/>
              </a:rPr>
            </a:b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56373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4" name="Rectangle 2">
            <a:extLst>
              <a:ext uri="{FF2B5EF4-FFF2-40B4-BE49-F238E27FC236}">
                <a16:creationId xmlns:a16="http://schemas.microsoft.com/office/drawing/2014/main" id="{04608935-D8A6-40D6-A6C0-06089A3797BA}"/>
              </a:ext>
            </a:extLst>
          </p:cNvPr>
          <p:cNvSpPr>
            <a:spLocks noChangeArrowheads="1"/>
          </p:cNvSpPr>
          <p:nvPr/>
        </p:nvSpPr>
        <p:spPr bwMode="auto">
          <a:xfrm>
            <a:off x="762000" y="603966"/>
            <a:ext cx="10539285" cy="5755422"/>
          </a:xfrm>
          <a:prstGeom prst="rect">
            <a:avLst/>
          </a:prstGeom>
          <a:ln/>
        </p:spPr>
        <p:style>
          <a:lnRef idx="2">
            <a:schemeClr val="dk1"/>
          </a:lnRef>
          <a:fillRef idx="1">
            <a:schemeClr val="lt1"/>
          </a:fillRef>
          <a:effectRef idx="0">
            <a:schemeClr val="dk1"/>
          </a:effectRef>
          <a:fontRef idx="minor">
            <a:schemeClr val="dk1"/>
          </a:fontRef>
        </p:style>
        <p:txBody>
          <a:bodyPr vert="horz" wrap="square" lIns="91440" tIns="182880" rIns="91440" bIns="1828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rgbClr val="669900"/>
                </a:solidFill>
                <a:effectLst/>
                <a:latin typeface="Consolas" panose="020B0609020204030204" pitchFamily="49" charset="0"/>
              </a:rPr>
              <a:t>MyQMLType</a:t>
            </a:r>
            <a:r>
              <a:rPr kumimoji="0" lang="en-US" altLang="en-US" sz="1400" b="0" i="0" u="none" strike="noStrike" cap="none" normalizeH="0" baseline="0" dirty="0">
                <a:ln>
                  <a:noFill/>
                </a:ln>
                <a:solidFill>
                  <a:srgbClr val="669900"/>
                </a:solidFill>
                <a:effectLst/>
                <a:latin typeface="Consolas" panose="020B0609020204030204" pitchFamily="49" charset="0"/>
              </a:rPr>
              <a:t>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0055"/>
                </a:solidFill>
                <a:effectLst/>
                <a:latin typeface="Consolas" panose="020B0609020204030204" pitchFamily="49" charset="0"/>
              </a:rPr>
              <a:t>id</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typeFromCpp</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2.1: Property Binding for </a:t>
            </a:r>
            <a:r>
              <a:rPr kumimoji="0" lang="en-US" altLang="en-US" sz="1400" b="0" i="0" u="none" strike="noStrike" cap="none" normalizeH="0" baseline="0" dirty="0" err="1">
                <a:ln>
                  <a:noFill/>
                </a:ln>
                <a:solidFill>
                  <a:srgbClr val="708090"/>
                </a:solidFill>
                <a:effectLst/>
                <a:latin typeface="Consolas" panose="020B0609020204030204" pitchFamily="49" charset="0"/>
              </a:rPr>
              <a:t>MyQMLType</a:t>
            </a:r>
            <a:r>
              <a:rPr kumimoji="0" lang="en-US" altLang="en-US" sz="1400" b="0" i="0" u="none" strike="noStrike" cap="none" normalizeH="0" baseline="0" dirty="0">
                <a:ln>
                  <a:noFill/>
                </a:ln>
                <a:solidFill>
                  <a:srgbClr val="708090"/>
                </a:solidFill>
                <a:effectLst/>
                <a:latin typeface="Consolas" panose="020B0609020204030204" pitchFamily="49" charset="0"/>
              </a:rPr>
              <a:t>::message property</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NOTE: Similar to types created purely with QML, you may use property bindings to keep your property values updated</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990055"/>
                </a:solidFill>
                <a:effectLst/>
                <a:latin typeface="Consolas" panose="020B0609020204030204" pitchFamily="49" charset="0"/>
              </a:rPr>
              <a:t>message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669900"/>
                </a:solidFill>
                <a:effectLst/>
                <a:latin typeface="Consolas" panose="020B0609020204030204" pitchFamily="49" charset="0"/>
              </a:rPr>
              <a:t>"counter / 2 = "</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Math.floor</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myGlobalObject.counter</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990055"/>
                </a:solidFill>
                <a:effectLst/>
                <a:latin typeface="Consolas" panose="020B0609020204030204" pitchFamily="49" charset="0"/>
              </a:rPr>
              <a:t>2</a:t>
            </a:r>
            <a:r>
              <a:rPr kumimoji="0" lang="en-US" altLang="en-US" sz="1400" b="0" i="0" u="none" strike="noStrike" cap="none" normalizeH="0" baseline="0" dirty="0">
                <a:ln>
                  <a:noFill/>
                </a:ln>
                <a:solidFill>
                  <a:srgbClr val="0000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2.2: Reacting to property changes</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NOTE: With the </a:t>
            </a:r>
            <a:r>
              <a:rPr kumimoji="0" lang="en-US" altLang="en-US" sz="1400" b="0" i="0" u="none" strike="noStrike" cap="none" normalizeH="0" baseline="0" dirty="0" err="1">
                <a:ln>
                  <a:noFill/>
                </a:ln>
                <a:solidFill>
                  <a:srgbClr val="708090"/>
                </a:solidFill>
                <a:effectLst/>
                <a:latin typeface="Consolas" panose="020B0609020204030204" pitchFamily="49" charset="0"/>
              </a:rPr>
              <a:t>onMessageChanged</a:t>
            </a:r>
            <a:r>
              <a:rPr kumimoji="0" lang="en-US" altLang="en-US" sz="1400" b="0" i="0" u="none" strike="noStrike" cap="none" normalizeH="0" baseline="0" dirty="0">
                <a:ln>
                  <a:noFill/>
                </a:ln>
                <a:solidFill>
                  <a:srgbClr val="708090"/>
                </a:solidFill>
                <a:effectLst/>
                <a:latin typeface="Consolas" panose="020B0609020204030204" pitchFamily="49" charset="0"/>
              </a:rPr>
              <a:t> signal, you can add code to handle property changes</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err="1">
                <a:ln>
                  <a:noFill/>
                </a:ln>
                <a:solidFill>
                  <a:srgbClr val="990055"/>
                </a:solidFill>
                <a:effectLst/>
                <a:latin typeface="Consolas" panose="020B0609020204030204" pitchFamily="49" charset="0"/>
              </a:rPr>
              <a:t>onMessageChanged</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console.log(</a:t>
            </a:r>
            <a:r>
              <a:rPr kumimoji="0" lang="en-US" altLang="en-US" sz="1400" b="0" i="0" u="none" strike="noStrike" cap="none" normalizeH="0" baseline="0" dirty="0">
                <a:ln>
                  <a:noFill/>
                </a:ln>
                <a:solidFill>
                  <a:srgbClr val="669900"/>
                </a:solidFill>
                <a:effectLst/>
                <a:latin typeface="Consolas" panose="020B0609020204030204" pitchFamily="49" charset="0"/>
              </a:rPr>
              <a:t>"</a:t>
            </a:r>
            <a:r>
              <a:rPr kumimoji="0" lang="en-US" altLang="en-US" sz="1400" b="0" i="0" u="none" strike="noStrike" cap="none" normalizeH="0" baseline="0" dirty="0" err="1">
                <a:ln>
                  <a:noFill/>
                </a:ln>
                <a:solidFill>
                  <a:srgbClr val="669900"/>
                </a:solidFill>
                <a:effectLst/>
                <a:latin typeface="Consolas" panose="020B0609020204030204" pitchFamily="49" charset="0"/>
              </a:rPr>
              <a:t>typeFromCpp</a:t>
            </a:r>
            <a:r>
              <a:rPr kumimoji="0" lang="en-US" altLang="en-US" sz="1400" b="0" i="0" u="none" strike="noStrike" cap="none" normalizeH="0" baseline="0" dirty="0">
                <a:ln>
                  <a:noFill/>
                </a:ln>
                <a:solidFill>
                  <a:srgbClr val="669900"/>
                </a:solidFill>
                <a:effectLst/>
                <a:latin typeface="Consolas" panose="020B0609020204030204" pitchFamily="49" charset="0"/>
              </a:rPr>
              <a:t> message changed to '"</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typeFromCpp.message</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669900"/>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2.3: Run code at creation of the QML component</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NOTE: The </a:t>
            </a:r>
            <a:r>
              <a:rPr kumimoji="0" lang="en-US" altLang="en-US" sz="1400" b="0" i="0" u="none" strike="noStrike" cap="none" normalizeH="0" baseline="0" dirty="0" err="1">
                <a:ln>
                  <a:noFill/>
                </a:ln>
                <a:solidFill>
                  <a:srgbClr val="708090"/>
                </a:solidFill>
                <a:effectLst/>
                <a:latin typeface="Consolas" panose="020B0609020204030204" pitchFamily="49" charset="0"/>
              </a:rPr>
              <a:t>Component.onCompleted</a:t>
            </a:r>
            <a:r>
              <a:rPr kumimoji="0" lang="en-US" altLang="en-US" sz="1400" b="0" i="0" u="none" strike="noStrike" cap="none" normalizeH="0" baseline="0" dirty="0">
                <a:ln>
                  <a:noFill/>
                </a:ln>
                <a:solidFill>
                  <a:srgbClr val="708090"/>
                </a:solidFill>
                <a:effectLst/>
                <a:latin typeface="Consolas" panose="020B0609020204030204" pitchFamily="49" charset="0"/>
              </a:rPr>
              <a:t> signal is available for every QML item, even for items defined with C++.</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The signal is fired when the QML Engine creates the item at runtime.</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err="1">
                <a:ln>
                  <a:noFill/>
                </a:ln>
                <a:solidFill>
                  <a:srgbClr val="990055"/>
                </a:solidFill>
                <a:effectLst/>
                <a:latin typeface="Consolas" panose="020B0609020204030204" pitchFamily="49" charset="0"/>
              </a:rPr>
              <a:t>Component.onCompleted</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myGlobalObject.counter</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typeFromCpp.increment</a:t>
            </a:r>
            <a:r>
              <a:rPr kumimoji="0" lang="en-US" altLang="en-US" sz="1400" b="0" i="0" u="none" strike="noStrike" cap="none" normalizeH="0" baseline="0" dirty="0">
                <a:ln>
                  <a:noFill/>
                </a:ln>
                <a:solidFill>
                  <a:srgbClr val="000000"/>
                </a:solidFill>
                <a:effectLst/>
                <a:latin typeface="Consolas" panose="020B0609020204030204" pitchFamily="49" charset="0"/>
              </a:rPr>
              <a:t>(</a:t>
            </a:r>
            <a:r>
              <a:rPr kumimoji="0" lang="en-US" altLang="en-US" sz="1400" b="0" i="0" u="none" strike="noStrike" cap="none" normalizeH="0" baseline="0" dirty="0" err="1">
                <a:ln>
                  <a:noFill/>
                </a:ln>
                <a:solidFill>
                  <a:srgbClr val="000000"/>
                </a:solidFill>
                <a:effectLst/>
                <a:latin typeface="Consolas" panose="020B0609020204030204" pitchFamily="49" charset="0"/>
              </a:rPr>
              <a:t>myGlobalObject.counter</a:t>
            </a:r>
            <a:r>
              <a:rPr kumimoji="0" lang="en-US" altLang="en-US" sz="1400" b="0" i="0" u="none" strike="noStrike" cap="none" normalizeH="0" baseline="0" dirty="0">
                <a:ln>
                  <a:noFill/>
                </a:ln>
                <a:solidFill>
                  <a:srgbClr val="000000"/>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708090"/>
                </a:solidFill>
                <a:effectLst/>
                <a:latin typeface="Consolas" panose="020B0609020204030204" pitchFamily="49" charset="0"/>
              </a:rPr>
              <a:t>// 2.1: Show </a:t>
            </a:r>
            <a:r>
              <a:rPr kumimoji="0" lang="en-US" altLang="en-US" sz="1400" b="0" i="0" u="none" strike="noStrike" cap="none" normalizeH="0" baseline="0" dirty="0" err="1">
                <a:ln>
                  <a:noFill/>
                </a:ln>
                <a:solidFill>
                  <a:srgbClr val="708090"/>
                </a:solidFill>
                <a:effectLst/>
                <a:latin typeface="Consolas" panose="020B0609020204030204" pitchFamily="49" charset="0"/>
              </a:rPr>
              <a:t>typeFromCpp.message</a:t>
            </a:r>
            <a:r>
              <a:rPr kumimoji="0" lang="en-US" altLang="en-US" sz="1400" b="0" i="0" u="none" strike="noStrike" cap="none" normalizeH="0" baseline="0" dirty="0">
                <a:ln>
                  <a:noFill/>
                </a:ln>
                <a:solidFill>
                  <a:srgbClr val="708090"/>
                </a:solidFill>
                <a:effectLst/>
                <a:latin typeface="Consolas" panose="020B0609020204030204" pitchFamily="49" charset="0"/>
              </a:rPr>
              <a:t> value, which is calculated automatically based on the </a:t>
            </a:r>
            <a:r>
              <a:rPr kumimoji="0" lang="en-US" altLang="en-US" sz="1400" b="0" i="0" u="none" strike="noStrike" cap="none" normalizeH="0" baseline="0" dirty="0" err="1">
                <a:ln>
                  <a:noFill/>
                </a:ln>
                <a:solidFill>
                  <a:srgbClr val="708090"/>
                </a:solidFill>
                <a:effectLst/>
                <a:latin typeface="Consolas" panose="020B0609020204030204" pitchFamily="49" charset="0"/>
              </a:rPr>
              <a:t>myGlobalObject.counter</a:t>
            </a:r>
            <a:r>
              <a:rPr kumimoji="0" lang="en-US" altLang="en-US" sz="1400" b="0" i="0" u="none" strike="noStrike" cap="none" normalizeH="0" baseline="0" dirty="0">
                <a:ln>
                  <a:noFill/>
                </a:ln>
                <a:solidFill>
                  <a:srgbClr val="708090"/>
                </a:solidFill>
                <a:effectLst/>
                <a:latin typeface="Consolas" panose="020B0609020204030204" pitchFamily="49" charset="0"/>
              </a:rPr>
              <a:t> value</a:t>
            </a:r>
            <a:br>
              <a:rPr kumimoji="0" lang="en-US" altLang="en-US" sz="1400" b="0" i="0" u="none" strike="noStrike" cap="none" normalizeH="0" baseline="0" dirty="0">
                <a:ln>
                  <a:noFill/>
                </a:ln>
                <a:solidFill>
                  <a:srgbClr val="708090"/>
                </a:solidFill>
                <a:effectLst/>
                <a:latin typeface="Consolas" panose="020B0609020204030204" pitchFamily="49" charset="0"/>
              </a:rPr>
            </a:br>
            <a:r>
              <a:rPr kumimoji="0" lang="en-US" altLang="en-US" sz="1400" b="0" i="0" u="none" strike="noStrike" cap="none" normalizeH="0" baseline="0" dirty="0">
                <a:ln>
                  <a:noFill/>
                </a:ln>
                <a:solidFill>
                  <a:srgbClr val="669900"/>
                </a:solidFill>
                <a:effectLst/>
                <a:latin typeface="Consolas" panose="020B0609020204030204" pitchFamily="49" charset="0"/>
              </a:rPr>
              <a:t>Text </a:t>
            </a: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0055"/>
                </a:solidFill>
                <a:effectLst/>
                <a:latin typeface="Consolas" panose="020B0609020204030204" pitchFamily="49" charset="0"/>
              </a:rPr>
              <a:t>text</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"Custom QML Type </a:t>
            </a:r>
            <a:r>
              <a:rPr kumimoji="0" lang="en-US" altLang="en-US" sz="1400" b="0" i="0" u="none" strike="noStrike" cap="none" normalizeH="0" baseline="0" dirty="0">
                <a:ln>
                  <a:noFill/>
                </a:ln>
                <a:solidFill>
                  <a:srgbClr val="990055"/>
                </a:solidFill>
                <a:effectLst/>
                <a:latin typeface="Consolas" panose="020B0609020204030204" pitchFamily="49" charset="0"/>
              </a:rPr>
              <a:t>Message</a:t>
            </a: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\n" </a:t>
            </a:r>
            <a:r>
              <a:rPr kumimoji="0" lang="en-US" altLang="en-US" sz="1400" b="0" i="0" u="none" strike="noStrike" cap="none" normalizeH="0" baseline="0" dirty="0">
                <a:ln>
                  <a:noFill/>
                </a:ln>
                <a:solidFill>
                  <a:srgbClr val="A67F59"/>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typeFromCpp.message</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br>
              <a:rPr kumimoji="0" lang="en-US" altLang="en-US" sz="1400" b="0" i="0" u="none" strike="noStrike" cap="none" normalizeH="0" baseline="0" dirty="0">
                <a:ln>
                  <a:noFill/>
                </a:ln>
                <a:solidFill>
                  <a:srgbClr val="000000"/>
                </a:solidFill>
                <a:effectLst/>
                <a:latin typeface="Consolas" panose="020B0609020204030204" pitchFamily="49" charset="0"/>
              </a:rPr>
            </a:br>
            <a:r>
              <a:rPr kumimoji="0" lang="en-US" altLang="en-US" sz="1400" b="0" i="0" u="none" strike="noStrike" cap="none" normalizeH="0" baseline="0" dirty="0">
                <a:ln>
                  <a:noFill/>
                </a:ln>
                <a:solidFill>
                  <a:srgbClr val="999999"/>
                </a:solidFill>
                <a:effectLst/>
                <a:latin typeface="Consolas" panose="020B0609020204030204" pitchFamily="49" charset="0"/>
              </a:rPr>
              <a:t>}</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61242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5"/>
          <p:cNvSpPr txBox="1">
            <a:spLocks noGrp="1"/>
          </p:cNvSpPr>
          <p:nvPr>
            <p:ph type="title"/>
          </p:nvPr>
        </p:nvSpPr>
        <p:spPr>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3800"/>
              <a:buFont typeface="Roboto Condensed"/>
              <a:buNone/>
            </a:pPr>
            <a:r>
              <a:rPr lang="en-US" sz="3600" dirty="0"/>
              <a:t>References</a:t>
            </a:r>
            <a:endParaRPr sz="4000" dirty="0"/>
          </a:p>
        </p:txBody>
      </p:sp>
      <p:sp>
        <p:nvSpPr>
          <p:cNvPr id="362" name="Google Shape;362;p35"/>
          <p:cNvSpPr txBox="1">
            <a:spLocks noGrp="1"/>
          </p:cNvSpPr>
          <p:nvPr>
            <p:ph type="body" idx="1"/>
          </p:nvPr>
        </p:nvSpPr>
        <p:spPr>
          <a:xfrm>
            <a:off x="436600" y="1296867"/>
            <a:ext cx="11310400" cy="5307133"/>
          </a:xfrm>
          <a:prstGeom prst="rect">
            <a:avLst/>
          </a:prstGeom>
          <a:noFill/>
          <a:ln>
            <a:noFill/>
          </a:ln>
        </p:spPr>
        <p:txBody>
          <a:bodyPr spcFirstLastPara="1" wrap="square" lIns="68575" tIns="34275" rIns="68575" bIns="34275" anchor="t" anchorCtr="0">
            <a:noAutofit/>
          </a:bodyPr>
          <a:lstStyle/>
          <a:p>
            <a:pPr lvl="0"/>
            <a:r>
              <a:rPr lang="en-US" dirty="0">
                <a:hlinkClick r:id="rId3"/>
              </a:rPr>
              <a:t>https://doc.qt.io/qt-5/qtqml-cppintegration-overview.html</a:t>
            </a:r>
            <a:endParaRPr lang="en-US" dirty="0"/>
          </a:p>
        </p:txBody>
      </p:sp>
    </p:spTree>
    <p:extLst>
      <p:ext uri="{BB962C8B-B14F-4D97-AF65-F5344CB8AC3E}">
        <p14:creationId xmlns:p14="http://schemas.microsoft.com/office/powerpoint/2010/main" val="486293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6000"/>
              <a:buFont typeface="Roboto Condensed"/>
              <a:buNone/>
            </a:pPr>
            <a:r>
              <a:rPr lang="en-US"/>
              <a:t>Thank You!!</a:t>
            </a:r>
            <a:endParaRPr/>
          </a:p>
        </p:txBody>
      </p:sp>
    </p:spTree>
    <p:extLst>
      <p:ext uri="{BB962C8B-B14F-4D97-AF65-F5344CB8AC3E}">
        <p14:creationId xmlns:p14="http://schemas.microsoft.com/office/powerpoint/2010/main" val="688141277"/>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1852</TotalTime>
  <Words>2210</Words>
  <Application>Microsoft Office PowerPoint</Application>
  <PresentationFormat>Widescreen</PresentationFormat>
  <Paragraphs>132</Paragraphs>
  <Slides>21</Slides>
  <Notes>21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21</vt:i4>
      </vt:variant>
    </vt:vector>
  </HeadingPairs>
  <TitlesOfParts>
    <vt:vector size="30" baseType="lpstr">
      <vt:lpstr>Arial</vt:lpstr>
      <vt:lpstr>Calibri</vt:lpstr>
      <vt:lpstr>Consolas</vt:lpstr>
      <vt:lpstr>Noto Sans Symbols</vt:lpstr>
      <vt:lpstr>Roboto Condensed</vt:lpstr>
      <vt:lpstr>Titillium Web</vt:lpstr>
      <vt:lpstr>Wingdings</vt:lpstr>
      <vt:lpstr>1_Office Theme</vt:lpstr>
      <vt:lpstr>2_Office Theme</vt:lpstr>
      <vt:lpstr>QML and C++ Integration</vt:lpstr>
      <vt:lpstr>Agenda</vt:lpstr>
      <vt:lpstr>Overview</vt:lpstr>
      <vt:lpstr>Overview</vt:lpstr>
      <vt:lpstr>Access a C++ Object from QML</vt:lpstr>
      <vt:lpstr>Access a C++ Object from QML</vt:lpstr>
      <vt:lpstr>Access a C++ Object from QML</vt:lpstr>
      <vt:lpstr>Access a C++ Object from QML</vt:lpstr>
      <vt:lpstr>Access a C++ Object from QML</vt:lpstr>
      <vt:lpstr>Access a C++ Object from QML</vt:lpstr>
      <vt:lpstr>Access a C++ Object from QML</vt:lpstr>
      <vt:lpstr>Register C++ Class as a QML Type</vt:lpstr>
      <vt:lpstr>Register C++ Class as a QML Type</vt:lpstr>
      <vt:lpstr>Register C++ Class as a QML Type</vt:lpstr>
      <vt:lpstr>Register C++ Class as a QML Type</vt:lpstr>
      <vt:lpstr>Register C++ Class as a QML Type</vt:lpstr>
      <vt:lpstr>Access a C++ Object from QML</vt:lpstr>
      <vt:lpstr>Access a C++ Object from QML</vt:lpstr>
      <vt:lpstr>PowerPoint Presentation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Bash Basic</dc:title>
  <dc:creator>Nguyen Trung Hieu</dc:creator>
  <cp:lastModifiedBy>Hoang Huu Lam</cp:lastModifiedBy>
  <cp:revision>265</cp:revision>
  <dcterms:created xsi:type="dcterms:W3CDTF">2020-01-03T03:31:54Z</dcterms:created>
  <dcterms:modified xsi:type="dcterms:W3CDTF">2020-10-14T08:31:36Z</dcterms:modified>
</cp:coreProperties>
</file>